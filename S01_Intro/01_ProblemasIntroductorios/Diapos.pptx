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7" r:id="rId2"/>
    <p:sldId id="288" r:id="rId3"/>
    <p:sldId id="289" r:id="rId4"/>
    <p:sldId id="290" r:id="rId5"/>
    <p:sldId id="293" r:id="rId6"/>
    <p:sldId id="292" r:id="rId7"/>
    <p:sldId id="291" r:id="rId8"/>
    <p:sldId id="294" r:id="rId9"/>
    <p:sldId id="256" r:id="rId10"/>
    <p:sldId id="276" r:id="rId11"/>
    <p:sldId id="268" r:id="rId12"/>
    <p:sldId id="269" r:id="rId13"/>
    <p:sldId id="270" r:id="rId14"/>
    <p:sldId id="271" r:id="rId15"/>
    <p:sldId id="272" r:id="rId16"/>
    <p:sldId id="273" r:id="rId17"/>
    <p:sldId id="277" r:id="rId18"/>
    <p:sldId id="275" r:id="rId19"/>
    <p:sldId id="278" r:id="rId20"/>
    <p:sldId id="279" r:id="rId21"/>
    <p:sldId id="280" r:id="rId22"/>
    <p:sldId id="281" r:id="rId23"/>
    <p:sldId id="282" r:id="rId24"/>
    <p:sldId id="285" r:id="rId25"/>
    <p:sldId id="283" r:id="rId26"/>
    <p:sldId id="284" r:id="rId27"/>
    <p:sldId id="274" r:id="rId28"/>
    <p:sldId id="286" r:id="rId29"/>
    <p:sldId id="295" r:id="rId30"/>
    <p:sldId id="267" r:id="rId31"/>
    <p:sldId id="257" r:id="rId32"/>
    <p:sldId id="260" r:id="rId33"/>
    <p:sldId id="261" r:id="rId34"/>
    <p:sldId id="262" r:id="rId35"/>
    <p:sldId id="258" r:id="rId36"/>
    <p:sldId id="259" r:id="rId37"/>
    <p:sldId id="263" r:id="rId38"/>
    <p:sldId id="264" r:id="rId39"/>
    <p:sldId id="265" r:id="rId40"/>
    <p:sldId id="266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7EB4-E975-F523-9FCC-7048E497AE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Teoría</a:t>
            </a:r>
            <a:r>
              <a:rPr lang="en-US" dirty="0"/>
              <a:t> de la </a:t>
            </a:r>
            <a:r>
              <a:rPr lang="en-US" dirty="0" err="1"/>
              <a:t>Computación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861597-5C39-454F-91AB-9601DAD646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UY" dirty="0"/>
              <a:t>Edición Marzo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420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E906-81AC-3447-838D-DBD178F8F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Presentación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C0E69-D152-0CD1-3EF6-01B213654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s-UY" dirty="0"/>
              <a:t>Equipo docente</a:t>
            </a:r>
          </a:p>
          <a:p>
            <a:pPr>
              <a:buFontTx/>
              <a:buChar char="-"/>
            </a:pPr>
            <a:r>
              <a:rPr lang="es-UY" dirty="0"/>
              <a:t>Horarios</a:t>
            </a:r>
          </a:p>
          <a:p>
            <a:pPr>
              <a:buFontTx/>
              <a:buChar char="-"/>
            </a:pPr>
            <a:r>
              <a:rPr lang="es-UY" dirty="0"/>
              <a:t>Modalidad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030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DF79-9A04-EEFE-8F25-2B2437C80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Evaluaciones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F7F245-7259-AC78-B723-3DBC950D794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76" y="1600200"/>
            <a:ext cx="7591447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719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F9DD-D4A2-7916-E3A1-1AC15F457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Puntajes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A005E-807C-1D6D-A90F-D14816854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24450"/>
          </a:xfrm>
        </p:spPr>
        <p:txBody>
          <a:bodyPr>
            <a:normAutofit/>
          </a:bodyPr>
          <a:lstStyle/>
          <a:p>
            <a:pPr fontAlgn="base"/>
            <a:r>
              <a:rPr lang="es-ES" dirty="0"/>
              <a:t>Defensas de práctico: 21 </a:t>
            </a:r>
            <a:r>
              <a:rPr lang="es-ES" dirty="0" err="1"/>
              <a:t>ptos</a:t>
            </a:r>
            <a:r>
              <a:rPr lang="es-ES" dirty="0"/>
              <a:t> (7 c/u; mejores 3 de 4)</a:t>
            </a:r>
          </a:p>
          <a:p>
            <a:pPr fontAlgn="base"/>
            <a:r>
              <a:rPr lang="es-ES" dirty="0"/>
              <a:t>Actuación en clase: 5 </a:t>
            </a:r>
            <a:r>
              <a:rPr lang="es-ES" dirty="0" err="1"/>
              <a:t>ptos</a:t>
            </a:r>
            <a:endParaRPr lang="es-ES" dirty="0"/>
          </a:p>
          <a:p>
            <a:pPr fontAlgn="base"/>
            <a:r>
              <a:rPr lang="es-ES" dirty="0"/>
              <a:t>Tarea + defensa (defensa durante el parcial): 14 </a:t>
            </a:r>
            <a:r>
              <a:rPr lang="es-ES" dirty="0" err="1"/>
              <a:t>ptos</a:t>
            </a:r>
            <a:endParaRPr lang="es-ES" dirty="0"/>
          </a:p>
          <a:p>
            <a:pPr fontAlgn="base"/>
            <a:r>
              <a:rPr lang="es-ES" dirty="0"/>
              <a:t>Parcial: 60 </a:t>
            </a:r>
            <a:r>
              <a:rPr lang="es-ES" dirty="0" err="1"/>
              <a:t>ptos</a:t>
            </a:r>
            <a:endParaRPr lang="es-ES" dirty="0"/>
          </a:p>
          <a:p>
            <a:pPr fontAlgn="base"/>
            <a:endParaRPr lang="es-ES" dirty="0"/>
          </a:p>
          <a:p>
            <a:pPr marL="0" indent="0" fontAlgn="base">
              <a:buNone/>
            </a:pPr>
            <a:r>
              <a:rPr lang="es-ES" dirty="0"/>
              <a:t>Todas las fechas están definidas y publicadas en Aulas!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050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A5566-8115-7060-AD4A-7525CFA958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UY" dirty="0"/>
              <a:t>El parcial es </a:t>
            </a:r>
            <a:r>
              <a:rPr lang="es-UY" b="1" dirty="0"/>
              <a:t>CON</a:t>
            </a:r>
            <a:r>
              <a:rPr lang="es-UY" dirty="0"/>
              <a:t> material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0012FA-927B-D9DE-BFE1-305E8E66AC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295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1806F-F03C-D97D-2D52-822263CEC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Comunicación oficial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AD869-0A83-331B-613E-991C6EC0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s-UY" dirty="0"/>
              <a:t>Equipo de </a:t>
            </a:r>
            <a:r>
              <a:rPr lang="es-UY" dirty="0" err="1"/>
              <a:t>Teams</a:t>
            </a:r>
            <a:endParaRPr lang="es-UY" dirty="0"/>
          </a:p>
          <a:p>
            <a:pPr>
              <a:buFontTx/>
              <a:buChar char="-"/>
            </a:pPr>
            <a:r>
              <a:rPr lang="es-UY" dirty="0"/>
              <a:t>Foros de Aulas</a:t>
            </a:r>
          </a:p>
        </p:txBody>
      </p:sp>
    </p:spTree>
    <p:extLst>
      <p:ext uri="{BB962C8B-B14F-4D97-AF65-F5344CB8AC3E}">
        <p14:creationId xmlns:p14="http://schemas.microsoft.com/office/powerpoint/2010/main" val="2814244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81E5-B103-5449-A27F-219D2ED731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UY" dirty="0"/>
              <a:t>Tarea introductoria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AE9902-D67D-1B3D-6619-C3919984CC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95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20D83-3DF6-446C-45F4-032B34141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Pregunta: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AD963-9605-3C64-4BD5-4F51FA806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El jefe de desarrollo te encarga como ingeniero la tarea de realizar un programa que lea código de otros programas y determine en cada caso si el programa leído entra o no en </a:t>
            </a:r>
            <a:r>
              <a:rPr lang="es-ES" dirty="0" err="1"/>
              <a:t>loop</a:t>
            </a:r>
            <a:r>
              <a:rPr lang="es-ES" dirty="0"/>
              <a:t> infinito para alguna entrada. ¿Cuál </a:t>
            </a:r>
            <a:r>
              <a:rPr lang="es-ES" dirty="0" err="1"/>
              <a:t>sera</a:t>
            </a:r>
            <a:r>
              <a:rPr lang="es-ES" dirty="0"/>
              <a:t> tu respuesta?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908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3054"/>
            <a:ext cx="7772400" cy="1470025"/>
          </a:xfrm>
        </p:spPr>
        <p:txBody>
          <a:bodyPr/>
          <a:lstStyle/>
          <a:p>
            <a:r>
              <a:rPr lang="en-US" dirty="0"/>
              <a:t>Halting Problem (HP)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29001"/>
            <a:ext cx="6400800" cy="2623456"/>
          </a:xfrm>
        </p:spPr>
        <p:txBody>
          <a:bodyPr>
            <a:normAutofit/>
          </a:bodyPr>
          <a:lstStyle/>
          <a:p>
            <a:r>
              <a:rPr lang="es-ES" dirty="0"/>
              <a:t>Comparación de métodos exactos, heurísticos y aproximados</a:t>
            </a:r>
          </a:p>
          <a:p>
            <a:endParaRPr lang="es-ES" dirty="0"/>
          </a:p>
          <a:p>
            <a:r>
              <a:rPr lang="es-ES" dirty="0"/>
              <a:t>Diego Acuña – TC – Marzo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9DB06-DF13-4D92-7DC4-2B3B9132C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Bibliografía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FB1CD-EA68-9F94-8587-3C278CCA2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https://cs.uns.edu.ar/materias/tc2do/downloads/Apuntes/Funciones%20Recursivas-TdC2019.pdf</a:t>
            </a:r>
          </a:p>
        </p:txBody>
      </p:sp>
    </p:spTree>
    <p:extLst>
      <p:ext uri="{BB962C8B-B14F-4D97-AF65-F5344CB8AC3E}">
        <p14:creationId xmlns:p14="http://schemas.microsoft.com/office/powerpoint/2010/main" val="1241529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D80C5-86D6-912C-CCBE-56A459D5A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1: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99D3F-5F2B-693F-B2B0-5FBA6B78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return x + y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9281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226EE-4998-59AB-AD49-83A89FFF1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686E0-52D0-2730-BADC-53E4B8F65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2: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2842D-6DC9-E617-82CF-E9D9EBA2A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return x / y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3385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A4B8-5874-20EC-7AE9-D80B62393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EA4AB-66E8-3BDC-84A0-3FBF92C7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3: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4F83D-FB49-90D4-DAD1-59F7FB133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while (true){}</a:t>
            </a:r>
          </a:p>
          <a:p>
            <a:pPr marL="0" indent="0">
              <a:buNone/>
            </a:pPr>
            <a:r>
              <a:rPr lang="en-US" dirty="0"/>
              <a:t>	return 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89822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D9E7-D79C-7905-3F11-4A5BD8EC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79499-FEAB-6A65-8603-42C0CF234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4: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248E1-A697-97BC-D57F-114A53E10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n)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if ( n == 0 ) { </a:t>
            </a:r>
          </a:p>
          <a:p>
            <a:pPr marL="0" indent="0">
              <a:buNone/>
            </a:pPr>
            <a:r>
              <a:rPr lang="en-US" dirty="0"/>
              <a:t>		return  f(0);</a:t>
            </a:r>
          </a:p>
          <a:p>
            <a:pPr marL="0" indent="0">
              <a:buNone/>
            </a:pPr>
            <a:r>
              <a:rPr lang="en-US" dirty="0"/>
              <a:t>	} else {</a:t>
            </a:r>
          </a:p>
          <a:p>
            <a:pPr marL="0" indent="0">
              <a:buNone/>
            </a:pPr>
            <a:r>
              <a:rPr lang="en-US" dirty="0"/>
              <a:t>		return 0;</a:t>
            </a:r>
          </a:p>
          <a:p>
            <a:pPr marL="0" indent="0">
              <a:buNone/>
            </a:pPr>
            <a:r>
              <a:rPr lang="en-US" dirty="0"/>
              <a:t>	}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07850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9735A-3709-920C-A254-2B7BC4DB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B792C-845C-890D-F181-A2AFF256F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5: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A5051-3C51-CDBA-1D1A-108E54A31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n)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if ( n == 1 ) { </a:t>
            </a:r>
          </a:p>
          <a:p>
            <a:pPr marL="0" indent="0">
              <a:buNone/>
            </a:pPr>
            <a:r>
              <a:rPr lang="en-US" dirty="0"/>
              <a:t>		return  1;</a:t>
            </a:r>
          </a:p>
          <a:p>
            <a:pPr marL="0" indent="0">
              <a:buNone/>
            </a:pPr>
            <a:r>
              <a:rPr lang="en-US" dirty="0"/>
              <a:t>	} else {</a:t>
            </a:r>
          </a:p>
          <a:p>
            <a:pPr marL="0" indent="0">
              <a:buNone/>
            </a:pPr>
            <a:r>
              <a:rPr lang="en-US" dirty="0"/>
              <a:t>		if (n % 2  == 0 ) { return f(n/2) }</a:t>
            </a:r>
          </a:p>
          <a:p>
            <a:pPr marL="0" indent="0">
              <a:buNone/>
            </a:pPr>
            <a:r>
              <a:rPr lang="en-US" dirty="0"/>
              <a:t>		else { return f(3*n+1) }</a:t>
            </a:r>
          </a:p>
          <a:p>
            <a:pPr marL="0" indent="0">
              <a:buNone/>
            </a:pPr>
            <a:r>
              <a:rPr lang="en-US" dirty="0"/>
              <a:t>	}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950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20FB2-89A6-E3E8-7277-113C3F3D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Conjetura</a:t>
            </a:r>
            <a:r>
              <a:rPr lang="en-US" dirty="0"/>
              <a:t> de Collatz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08639-51D8-A4E4-02BB-C9F6070B0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A124755E-246F-DC41-21A0-A5802916DC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371600"/>
            <a:ext cx="8686800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0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723AB-97DC-795F-1AEB-162771DC8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Y" dirty="0"/>
              <a:t>¿Terminan? ¿Qué tienen en común?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E5095-D77F-7C2C-8B92-3943BB42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 err="1"/>
              <a:t>suma</a:t>
            </a:r>
            <a:r>
              <a:rPr lang="en-US" sz="2400" dirty="0"/>
              <a:t>(int a, int b) {</a:t>
            </a:r>
          </a:p>
          <a:p>
            <a:pPr marL="0" indent="0">
              <a:buNone/>
            </a:pPr>
            <a:r>
              <a:rPr lang="en-US" sz="2400" dirty="0"/>
              <a:t>    if (b == 0)</a:t>
            </a:r>
          </a:p>
          <a:p>
            <a:pPr marL="0" indent="0">
              <a:buNone/>
            </a:pPr>
            <a:r>
              <a:rPr lang="en-US" sz="2400" dirty="0"/>
              <a:t>        return a;</a:t>
            </a:r>
          </a:p>
          <a:p>
            <a:pPr marL="0" indent="0">
              <a:buNone/>
            </a:pPr>
            <a:r>
              <a:rPr lang="en-US" sz="2400" dirty="0"/>
              <a:t>    else</a:t>
            </a:r>
          </a:p>
          <a:p>
            <a:pPr marL="0" indent="0">
              <a:buNone/>
            </a:pPr>
            <a:r>
              <a:rPr lang="en-US" sz="2400" dirty="0"/>
              <a:t>        return </a:t>
            </a:r>
            <a:r>
              <a:rPr lang="en-US" sz="2400" dirty="0" err="1"/>
              <a:t>suma</a:t>
            </a:r>
            <a:r>
              <a:rPr lang="en-US" sz="2400" dirty="0"/>
              <a:t>(a, b - 1) + 1;}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 err="1"/>
              <a:t>minimo</a:t>
            </a:r>
            <a:r>
              <a:rPr lang="en-US" sz="2400" dirty="0"/>
              <a:t>(int a, int b) {</a:t>
            </a:r>
          </a:p>
          <a:p>
            <a:pPr marL="0" indent="0">
              <a:buNone/>
            </a:pPr>
            <a:r>
              <a:rPr lang="en-US" sz="2400" dirty="0"/>
              <a:t>    if (a == 0 || b == 0) return 0;</a:t>
            </a:r>
          </a:p>
          <a:p>
            <a:pPr marL="0" indent="0">
              <a:buNone/>
            </a:pPr>
            <a:r>
              <a:rPr lang="en-US" sz="2400" dirty="0"/>
              <a:t>    else return 1 + </a:t>
            </a:r>
            <a:r>
              <a:rPr lang="en-US" sz="2400" dirty="0" err="1"/>
              <a:t>minimo</a:t>
            </a:r>
            <a:r>
              <a:rPr lang="en-US" sz="2400" dirty="0"/>
              <a:t>(a - 1, b - 1);}</a:t>
            </a:r>
          </a:p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/>
              <a:t>factorial</a:t>
            </a:r>
            <a:r>
              <a:rPr lang="en-US" sz="2400" dirty="0"/>
              <a:t>(int n) {</a:t>
            </a:r>
          </a:p>
          <a:p>
            <a:pPr marL="0" indent="0">
              <a:buNone/>
            </a:pPr>
            <a:r>
              <a:rPr lang="en-US" sz="2400" dirty="0"/>
              <a:t>    if (n == 0)</a:t>
            </a:r>
          </a:p>
          <a:p>
            <a:pPr marL="0" indent="0">
              <a:buNone/>
            </a:pPr>
            <a:r>
              <a:rPr lang="en-US" sz="2400" dirty="0"/>
              <a:t>        return 1;</a:t>
            </a:r>
          </a:p>
          <a:p>
            <a:pPr marL="0" indent="0">
              <a:buNone/>
            </a:pPr>
            <a:r>
              <a:rPr lang="en-US" sz="2400" dirty="0"/>
              <a:t>    else</a:t>
            </a:r>
          </a:p>
          <a:p>
            <a:pPr marL="0" indent="0">
              <a:buNone/>
            </a:pPr>
            <a:r>
              <a:rPr lang="en-US" sz="2400" dirty="0"/>
              <a:t>        return </a:t>
            </a:r>
            <a:r>
              <a:rPr lang="en-US" sz="2400" dirty="0" err="1"/>
              <a:t>multiplicacion</a:t>
            </a:r>
            <a:r>
              <a:rPr lang="en-US" sz="2400" dirty="0"/>
              <a:t>(n, factorial(n - 1));}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74071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B02615-FB0F-51B5-94AF-3F7552777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 primitiva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DEFD0B-DA4E-197C-EBFB-CEA933FC61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207" y="2627086"/>
            <a:ext cx="8788422" cy="232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82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8485D9-7B1C-3F8E-C783-449273A8AA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2274" y="643466"/>
            <a:ext cx="585945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011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28620-0572-6BAD-3529-14F3D506E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5B99C5-B743-E6BA-97EF-E3EBD612C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9B2E2F-3D7D-716C-644F-DD0055077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estructural</a:t>
            </a:r>
            <a:r>
              <a:rPr lang="en-US" sz="2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Árboles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70026DC-947C-BF8E-3B73-F1C275BAA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s-UY" dirty="0" err="1"/>
                  <a:t>Ej</a:t>
                </a:r>
                <a:r>
                  <a:rPr lang="es-UY" dirty="0"/>
                  <a:t>: Altura, cantidad de nodos, máximo, etc...</a:t>
                </a:r>
              </a:p>
              <a:p>
                <a:r>
                  <a:rPr lang="es-ES" dirty="0"/>
                  <a:t>Toda función definida por recursión estructural sobre un tipo inductivo finito  </a:t>
                </a:r>
                <a:r>
                  <a:rPr lang="es-ES" b="1" dirty="0"/>
                  <a:t>siempre termina</a:t>
                </a:r>
                <a:r>
                  <a:rPr lang="es-ES" dirty="0"/>
                  <a:t>.</a:t>
                </a:r>
              </a:p>
              <a:p>
                <a:pPr marL="0" indent="0">
                  <a:buNone/>
                </a:pPr>
                <a:r>
                  <a:rPr lang="es-ES" b="1" dirty="0"/>
                  <a:t>Motivo:</a:t>
                </a:r>
                <a:endParaRPr lang="es-ES" dirty="0"/>
              </a:p>
              <a:p>
                <a:r>
                  <a:rPr lang="es-ES" dirty="0"/>
                  <a:t>Existe una relación de orden bien fundado (</a:t>
                </a:r>
                <a14:m>
                  <m:oMath xmlns:m="http://schemas.openxmlformats.org/officeDocument/2006/math">
                    <m:r>
                      <a:rPr lang="es-ES">
                        <a:latin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s-ES" dirty="0"/>
                  <a:t>) sobre las subestructuras</a:t>
                </a:r>
              </a:p>
              <a:p>
                <a:r>
                  <a:rPr lang="es-ES" dirty="0"/>
                  <a:t>Cada llamada recursiva reduce estrictamente la medida estructural</a:t>
                </a:r>
              </a:p>
              <a:p>
                <a:r>
                  <a:rPr lang="es-ES" dirty="0"/>
                  <a:t>No existen cadenas infinitas descendentes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70026DC-947C-BF8E-3B73-F1C275BAA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354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6B1C4D-2392-F02B-5338-B826B283B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CEDF0F-DED9-5583-3451-BF73E6397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C9837-46F9-C649-6E88-57AE9E02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dirty="0">
                <a:solidFill>
                  <a:schemeClr val="bg1"/>
                </a:solidFill>
              </a:rPr>
              <a:t> bien </a:t>
            </a:r>
            <a:r>
              <a:rPr lang="en-US" sz="2800" dirty="0" err="1">
                <a:solidFill>
                  <a:schemeClr val="bg1"/>
                </a:solidFill>
              </a:rPr>
              <a:t>fundada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F8B2B8F-54B4-A2B3-8017-36C0AAF4FF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UY" dirty="0"/>
                  <a:t>Ejemplo: ¿Termina?</a:t>
                </a:r>
              </a:p>
              <a:p>
                <a:pPr marL="0" indent="0">
                  <a:buNone/>
                </a:pPr>
                <a:endParaRPr lang="es-UY" dirty="0"/>
              </a:p>
              <a:p>
                <a:pPr marL="0" indent="0">
                  <a:buNone/>
                </a:pPr>
                <a:r>
                  <a:rPr lang="es-UY" dirty="0" err="1"/>
                  <a:t>sumIntervalo</a:t>
                </a:r>
                <a:r>
                  <a:rPr lang="es-UY" dirty="0"/>
                  <a:t> desde hasta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𝑑𝑒𝑠𝑑𝑒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h𝑎𝑠𝑡𝑎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UY" dirty="0"/>
              </a:p>
              <a:p>
                <a:pPr marL="0" indent="0">
                  <a:buNone/>
                </a:pPr>
                <a:endParaRPr lang="es-UY" dirty="0"/>
              </a:p>
              <a:p>
                <a:pPr marL="0" indent="0">
                  <a:buNone/>
                </a:pPr>
                <a:r>
                  <a:rPr lang="es-UY" sz="2400" dirty="0" err="1"/>
                  <a:t>sumIntervalo</a:t>
                </a:r>
                <a:r>
                  <a:rPr lang="es-UY" sz="2400" dirty="0"/>
                  <a:t> :: </a:t>
                </a:r>
                <a:r>
                  <a:rPr lang="es-UY" sz="2400" dirty="0" err="1"/>
                  <a:t>Int</a:t>
                </a:r>
                <a:r>
                  <a:rPr lang="es-UY" sz="2400" dirty="0"/>
                  <a:t> -</a:t>
                </a:r>
                <a:r>
                  <a:rPr lang="en-US" sz="2400" dirty="0"/>
                  <a:t>&gt; Int -&gt; Int</a:t>
                </a:r>
              </a:p>
              <a:p>
                <a:pPr marL="0" indent="0">
                  <a:buNone/>
                </a:pPr>
                <a:r>
                  <a:rPr lang="en-US" sz="2400" dirty="0" err="1"/>
                  <a:t>sumIntervalo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desde</a:t>
                </a:r>
                <a:r>
                  <a:rPr lang="en-US" sz="2400" dirty="0"/>
                  <a:t> hasta</a:t>
                </a:r>
              </a:p>
              <a:p>
                <a:pPr marL="0" indent="0">
                  <a:buNone/>
                </a:pPr>
                <a:r>
                  <a:rPr lang="en-US" sz="2400" dirty="0"/>
                  <a:t> | </a:t>
                </a:r>
                <a:r>
                  <a:rPr lang="en-US" sz="2400" dirty="0" err="1"/>
                  <a:t>desde</a:t>
                </a:r>
                <a:r>
                  <a:rPr lang="en-US" sz="2400" dirty="0"/>
                  <a:t> &lt;= hasta  = </a:t>
                </a:r>
                <a:r>
                  <a:rPr lang="en-US" sz="2400" dirty="0" err="1"/>
                  <a:t>desde</a:t>
                </a:r>
                <a:r>
                  <a:rPr lang="en-US" sz="2400" dirty="0"/>
                  <a:t> + (</a:t>
                </a:r>
                <a:r>
                  <a:rPr lang="en-US" sz="2400" dirty="0" err="1"/>
                  <a:t>sumIntervalo</a:t>
                </a:r>
                <a:r>
                  <a:rPr lang="en-US" sz="2400" dirty="0"/>
                  <a:t> (desde+1) hasta</a:t>
                </a:r>
              </a:p>
              <a:p>
                <a:pPr marL="0" indent="0">
                  <a:buNone/>
                </a:pPr>
                <a:r>
                  <a:rPr lang="en-US" sz="2400" dirty="0"/>
                  <a:t> | otherwise = 0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F8B2B8F-54B4-A2B3-8017-36C0AAF4FF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52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632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32E6F2-29DE-6234-1BC3-B46243B70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1CFF34F-E1E7-4C7A-0728-7EE79EFED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D73F11-2047-7FB2-5E71-5C080735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dirty="0">
                <a:solidFill>
                  <a:schemeClr val="bg1"/>
                </a:solidFill>
              </a:rPr>
              <a:t> bien </a:t>
            </a:r>
            <a:r>
              <a:rPr lang="en-US" sz="2800" dirty="0" err="1">
                <a:solidFill>
                  <a:schemeClr val="bg1"/>
                </a:solidFill>
              </a:rPr>
              <a:t>fundada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D86D28-66FF-A212-6F08-B107C4B46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000" dirty="0"/>
                  <a:t>Sea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ar-AE" sz="2000" i="0">
                            <a:latin typeface="Cambria Math" panose="02040503050406030204" pitchFamily="18" charset="0"/>
                          </a:rPr>
                          <m:t>≺</m:t>
                        </m:r>
                      </m:e>
                    </m:d>
                  </m:oMath>
                </a14:m>
                <a:r>
                  <a:rPr lang="en-US" sz="2000" dirty="0"/>
                  <a:t>un conjunto con </a:t>
                </a:r>
                <a:r>
                  <a:rPr lang="en-US" sz="2000" dirty="0" err="1"/>
                  <a:t>una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relación</a:t>
                </a:r>
                <a:r>
                  <a:rPr lang="en-US" sz="2000" dirty="0"/>
                  <a:t> </a:t>
                </a:r>
                <a:r>
                  <a:rPr lang="en-US" sz="2000" b="1" dirty="0"/>
                  <a:t>bien </a:t>
                </a:r>
                <a:r>
                  <a:rPr lang="en-US" sz="2000" b="1" dirty="0" err="1"/>
                  <a:t>fundada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sz="2000" dirty="0"/>
                  <a:t>(es </a:t>
                </a:r>
                <a:r>
                  <a:rPr lang="en-US" sz="2000" dirty="0" err="1"/>
                  <a:t>decir</a:t>
                </a:r>
                <a:r>
                  <a:rPr lang="en-US" sz="2000" dirty="0"/>
                  <a:t>, sin </a:t>
                </a:r>
                <a:r>
                  <a:rPr lang="en-US" sz="2000" dirty="0" err="1"/>
                  <a:t>cadenas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infinitas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descendentes</a:t>
                </a:r>
                <a:r>
                  <a:rPr lang="en-US" sz="2000" dirty="0"/>
                  <a:t>).</a:t>
                </a:r>
              </a:p>
              <a:p>
                <a:pPr>
                  <a:buNone/>
                </a:pPr>
                <a:r>
                  <a:rPr lang="en-US" sz="2000" b="1" dirty="0" err="1"/>
                  <a:t>Definición</a:t>
                </a:r>
                <a:r>
                  <a:rPr lang="en-US" sz="2000" b="1" dirty="0"/>
                  <a:t> formal:</a:t>
                </a:r>
                <a:endParaRPr lang="en-US" sz="200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 sz="20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ar-AE" sz="20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sz="2000" b="0" i="1">
                          <a:latin typeface="Cambria Math" panose="02040503050406030204" pitchFamily="18" charset="0"/>
                        </a:rPr>
                        <m:t>  </m:t>
                      </m:r>
                      <m:d>
                        <m:dPr>
                          <m:begChr m:val="{"/>
                          <m:endChr m:val="}"/>
                          <m:ctrlPr>
                            <a:rPr lang="ar-AE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 sz="20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ar-AE" sz="2000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ar-AE" sz="2000" b="0" i="0">
                              <a:latin typeface="Cambria Math" panose="02040503050406030204" pitchFamily="18" charset="0"/>
                            </a:rPr>
                            <m:t>≺</m:t>
                          </m:r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 sz="2000" b="0" i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sz="2000" b="0" dirty="0"/>
              </a:p>
              <a:p>
                <a:pPr>
                  <a:buNone/>
                </a:pPr>
                <a:r>
                  <a:rPr lang="en-US" sz="2000" dirty="0"/>
                  <a:t>Una </a:t>
                </a:r>
                <a:r>
                  <a:rPr lang="en-US" sz="2000" dirty="0" err="1"/>
                  <a:t>función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está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definida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por</a:t>
                </a:r>
                <a:r>
                  <a:rPr lang="en-US" sz="2000" dirty="0"/>
                  <a:t> </a:t>
                </a:r>
                <a:r>
                  <a:rPr lang="en-US" sz="2000" b="1" dirty="0" err="1"/>
                  <a:t>recursión</a:t>
                </a:r>
                <a:r>
                  <a:rPr lang="en-US" sz="2000" b="1" dirty="0"/>
                  <a:t> bien </a:t>
                </a:r>
                <a:r>
                  <a:rPr lang="en-US" sz="2000" b="1" dirty="0" err="1"/>
                  <a:t>fundada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si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llamada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recursiva</a:t>
                </a:r>
                <a:r>
                  <a:rPr lang="en-US" sz="2000" dirty="0"/>
                  <a:t> se </a:t>
                </a:r>
                <a:r>
                  <a:rPr lang="en-US" sz="2000" dirty="0" err="1"/>
                  <a:t>realiza</a:t>
                </a:r>
                <a:r>
                  <a:rPr lang="en-US" sz="2000" dirty="0"/>
                  <a:t> </a:t>
                </a:r>
                <a:r>
                  <a:rPr lang="en-US" sz="2000" b="1" dirty="0" err="1"/>
                  <a:t>únicamente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sobre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elementos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estrictamente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menores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que</a:t>
                </a:r>
                <a:r>
                  <a:rPr lang="en-US" sz="2000" dirty="0"/>
                  <a:t> </a:t>
                </a:r>
                <a:r>
                  <a:rPr lang="en-US" sz="2000" dirty="0" err="1"/>
                  <a:t>el</a:t>
                </a:r>
                <a:r>
                  <a:rPr lang="en-US" sz="2000" dirty="0"/>
                  <a:t> </a:t>
                </a:r>
                <a:r>
                  <a:rPr lang="en-US" sz="2000" dirty="0" err="1"/>
                  <a:t>argumento</a:t>
                </a:r>
                <a:r>
                  <a:rPr lang="en-US" sz="2000" dirty="0"/>
                  <a:t> actual </a:t>
                </a:r>
                <a:r>
                  <a:rPr lang="en-US" sz="2000" dirty="0" err="1"/>
                  <a:t>respecto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una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relación</a:t>
                </a:r>
                <a:r>
                  <a:rPr lang="en-US" sz="2000" dirty="0"/>
                  <a:t> bien </a:t>
                </a:r>
                <a:r>
                  <a:rPr lang="en-US" sz="2000" dirty="0" err="1"/>
                  <a:t>fundada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D86D28-66FF-A212-6F08-B107C4B46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9629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23940-F036-E947-1995-576748B5C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Recursión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26D0D5-8FA7-0C00-F697-FD91A40F45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m:rPr>
                              <m:nor/>
                            </m:rPr>
                            <a:rPr lang="en-US" b="0"/>
                            <m:t>Primitiva</m:t>
                          </m:r>
                          <m:r>
                            <m:rPr>
                              <m:nor/>
                            </m:rPr>
                            <a:rPr lang="en-US" b="0" i="1"/>
                            <m:t>  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⊂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m:rPr>
                              <m:nor/>
                            </m:rPr>
                            <a:rPr lang="en-US" i="1"/>
                            <m:t>Estructural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⊂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m:rPr>
                              <m:nor/>
                            </m:rPr>
                            <a:rPr lang="en-US" i="1"/>
                            <m:t>Bien</m:t>
                          </m:r>
                          <m:r>
                            <m:rPr>
                              <m:nor/>
                            </m:rPr>
                            <a:rPr lang="en-US" i="1"/>
                            <m:t> </m:t>
                          </m:r>
                          <m:r>
                            <m:rPr>
                              <m:nor/>
                            </m:rPr>
                            <a:rPr lang="en-US" i="1"/>
                            <m:t>fundada</m:t>
                          </m:r>
                        </m:e>
                      </m:borderBox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Toda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b="1" dirty="0" err="1"/>
                  <a:t>primitiva</a:t>
                </a:r>
                <a:r>
                  <a:rPr lang="en-US" dirty="0"/>
                  <a:t> es </a:t>
                </a:r>
                <a:r>
                  <a:rPr lang="en-US" dirty="0" err="1"/>
                  <a:t>estructural</a:t>
                </a:r>
                <a:r>
                  <a:rPr lang="en-US" dirty="0"/>
                  <a:t> </a:t>
                </a:r>
                <a:r>
                  <a:rPr lang="en-US" dirty="0" err="1"/>
                  <a:t>sobre</a:t>
                </a:r>
                <a:r>
                  <a:rPr lang="en-US" dirty="0"/>
                  <a:t> ℕ</a:t>
                </a:r>
              </a:p>
              <a:p>
                <a:r>
                  <a:rPr lang="en-US" dirty="0"/>
                  <a:t>Toda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b="1" dirty="0" err="1"/>
                  <a:t>estructural</a:t>
                </a:r>
                <a:r>
                  <a:rPr lang="en-US" dirty="0"/>
                  <a:t> es bien </a:t>
                </a:r>
                <a:r>
                  <a:rPr lang="en-US" dirty="0" err="1"/>
                  <a:t>fundada</a:t>
                </a:r>
                <a:endParaRPr lang="en-US" dirty="0"/>
              </a:p>
              <a:p>
                <a:r>
                  <a:rPr lang="en-US" dirty="0"/>
                  <a:t>No </a:t>
                </a:r>
                <a:r>
                  <a:rPr lang="en-US" dirty="0" err="1"/>
                  <a:t>toda</a:t>
                </a:r>
                <a:r>
                  <a:rPr lang="en-US" dirty="0"/>
                  <a:t> </a:t>
                </a:r>
                <a:r>
                  <a:rPr lang="en-US" dirty="0" err="1"/>
                  <a:t>recursión</a:t>
                </a:r>
                <a:r>
                  <a:rPr lang="en-US" dirty="0"/>
                  <a:t> bien </a:t>
                </a:r>
                <a:r>
                  <a:rPr lang="en-US" dirty="0" err="1"/>
                  <a:t>fundada</a:t>
                </a:r>
                <a:r>
                  <a:rPr lang="en-US" dirty="0"/>
                  <a:t> es </a:t>
                </a:r>
                <a:r>
                  <a:rPr lang="en-US" dirty="0" err="1"/>
                  <a:t>estructural</a:t>
                </a:r>
                <a:endParaRPr lang="en-US" dirty="0"/>
              </a:p>
              <a:p>
                <a:r>
                  <a:rPr lang="en-US" dirty="0"/>
                  <a:t>No </a:t>
                </a:r>
                <a:r>
                  <a:rPr lang="en-US" dirty="0" err="1"/>
                  <a:t>toda</a:t>
                </a:r>
                <a:r>
                  <a:rPr lang="en-US" dirty="0"/>
                  <a:t>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dirty="0" err="1"/>
                  <a:t>estructural</a:t>
                </a:r>
                <a:r>
                  <a:rPr lang="en-US" dirty="0"/>
                  <a:t> es </a:t>
                </a:r>
                <a:r>
                  <a:rPr lang="en-US" dirty="0" err="1"/>
                  <a:t>primitiva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26D0D5-8FA7-0C00-F697-FD91A40F45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732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F4DDC-C426-A57E-BFC1-92CE8EBD3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ECFD-2BCF-2C36-BBD4-5C49AA4D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“¿Cómo distinguirías entre un programa que no termina y uno que tarda mucho?”</a:t>
            </a:r>
          </a:p>
          <a:p>
            <a:r>
              <a:rPr lang="es-ES" dirty="0"/>
              <a:t>“¿Qué significa saber con certeza que no termina?”</a:t>
            </a:r>
          </a:p>
          <a:p>
            <a:r>
              <a:rPr lang="es-ES" dirty="0"/>
              <a:t>“¿Puedes demostrar que no va a terminar sin ejecutarlo?”</a:t>
            </a:r>
          </a:p>
          <a:p>
            <a:r>
              <a:rPr lang="es-ES" dirty="0"/>
              <a:t>“¿Qué pasa si el programa se analiza a sí mismo?”</a:t>
            </a:r>
          </a:p>
          <a:p>
            <a:r>
              <a:rPr lang="es-ES" dirty="0"/>
              <a:t>“¿Puede un programa predecirse a sí mismo?”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073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2B9C3-5CD1-F218-08DC-52731D455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Observaciones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2D5E5-82EC-FA86-71F8-050F27976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s-ES" dirty="0"/>
              <a:t>Podemos detectar la terminación en algunos casos particulares, pero el desafío es decidirla para todos los programas posibles.</a:t>
            </a:r>
          </a:p>
          <a:p>
            <a:r>
              <a:rPr lang="es-ES" dirty="0"/>
              <a:t>Un </a:t>
            </a:r>
            <a:r>
              <a:rPr lang="es-ES" dirty="0" err="1"/>
              <a:t>timeout</a:t>
            </a:r>
            <a:r>
              <a:rPr lang="es-ES" dirty="0"/>
              <a:t> no resuelve el problema: si un programa no terminó aún, no sabemos si va a terminar más adelante o si nunca lo hará.</a:t>
            </a:r>
          </a:p>
          <a:p>
            <a:r>
              <a:rPr lang="es-ES" dirty="0"/>
              <a:t>La dificultad surge porque los programas pueden contener </a:t>
            </a:r>
            <a:r>
              <a:rPr lang="es-ES" dirty="0" err="1"/>
              <a:t>loops</a:t>
            </a:r>
            <a:r>
              <a:rPr lang="es-ES" dirty="0"/>
              <a:t> y recursión sin límite, lo que genera comportamientos potencialmente infinitos.</a:t>
            </a:r>
          </a:p>
          <a:p>
            <a:r>
              <a:rPr lang="es-ES" dirty="0"/>
              <a:t>Si restringimos el lenguaje (por ejemplo, eliminando </a:t>
            </a:r>
            <a:r>
              <a:rPr lang="es-ES" dirty="0" err="1"/>
              <a:t>loops</a:t>
            </a:r>
            <a:r>
              <a:rPr lang="es-ES" dirty="0"/>
              <a:t> no acotados), ahí podríamos.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09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B4D0F-119D-C4C0-1F61-62C99E11B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39BBC-12A8-9FC8-8208-42DB7873D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Observaciones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1B17D-7AAD-B23B-8897-ED4CAC17B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Pero </a:t>
            </a:r>
            <a:r>
              <a:rPr lang="en-US" dirty="0" err="1"/>
              <a:t>entonces</a:t>
            </a:r>
            <a:r>
              <a:rPr lang="en-US" dirty="0"/>
              <a:t> 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hacen</a:t>
            </a:r>
            <a:r>
              <a:rPr lang="en-US" dirty="0"/>
              <a:t>...</a:t>
            </a:r>
          </a:p>
          <a:p>
            <a:pPr>
              <a:buFontTx/>
              <a:buChar char="-"/>
            </a:pPr>
            <a:r>
              <a:rPr lang="en-US" dirty="0"/>
              <a:t>Los antivirus</a:t>
            </a:r>
          </a:p>
          <a:p>
            <a:pPr>
              <a:buFontTx/>
              <a:buChar char="-"/>
            </a:pPr>
            <a:r>
              <a:rPr lang="en-US" dirty="0"/>
              <a:t>Los </a:t>
            </a:r>
            <a:r>
              <a:rPr lang="en-US" dirty="0" err="1"/>
              <a:t>compiladores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El Sistema </a:t>
            </a:r>
            <a:r>
              <a:rPr lang="en-US" dirty="0" err="1"/>
              <a:t>operativo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El debugger</a:t>
            </a:r>
          </a:p>
        </p:txBody>
      </p:sp>
    </p:spTree>
    <p:extLst>
      <p:ext uri="{BB962C8B-B14F-4D97-AF65-F5344CB8AC3E}">
        <p14:creationId xmlns:p14="http://schemas.microsoft.com/office/powerpoint/2010/main" val="659449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BA662-2CE3-37A8-F5F0-5295110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Algunas</a:t>
            </a:r>
            <a:r>
              <a:rPr lang="en-US" dirty="0"/>
              <a:t> </a:t>
            </a:r>
            <a:r>
              <a:rPr lang="en-US" dirty="0" err="1"/>
              <a:t>conclusiones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9EF14-142E-2741-9827-5A618A5F4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/>
              <a:t>No puede existir un compilador perfecto que detecte todos los </a:t>
            </a:r>
            <a:r>
              <a:rPr lang="es-ES" dirty="0" err="1"/>
              <a:t>loops</a:t>
            </a:r>
            <a:r>
              <a:rPr lang="es-ES" dirty="0"/>
              <a:t> infinitos posibles. DEMOSTRACIÓN</a:t>
            </a:r>
          </a:p>
          <a:p>
            <a:r>
              <a:rPr lang="es-ES" dirty="0"/>
              <a:t>Ningún algoritmo —ni siquiera una IA— puede resolver el problema en general, porque es una limitación matemática demostrada.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7887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24E91-7BEE-9931-A9FE-00DD448F8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Ejemplo</a:t>
            </a:r>
            <a:r>
              <a:rPr lang="en-US" dirty="0"/>
              <a:t> Dafny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E1629-D89F-A683-34BD-9CC62ADFA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8BE8-98B9-DCAD-3984-67676E942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53939"/>
            <a:ext cx="8463237" cy="340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58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FE59-A6FA-F03F-B6BC-62AB8FCFF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Pregunta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1BAF9-C5AF-DADC-8379-5D51EACBD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El mismo jefe te encarga una solución al problema del viajante: Escribir un programa que reciba un conjunto de puntos a visitar y los costos de conexión entre cada una de las parejas de puntos y determine un itinerario de costo mínimo. Dice también que sabe que la solución inmediata puede llegar a ser algo costosa en tiempo de ejecución, por lo que deberías estudiar alternativas. ¿Cuál sería tu respuesta?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401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10AB-5A09-27DC-E105-6CD7ECFD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116B6-B8EF-C733-0B1A-4C6C1D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753054"/>
            <a:ext cx="7772400" cy="1470025"/>
          </a:xfrm>
        </p:spPr>
        <p:txBody>
          <a:bodyPr/>
          <a:lstStyle/>
          <a:p>
            <a:r>
              <a:rPr dirty="0"/>
              <a:t>Traveling Salesman Problem (TSP)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CD68A-3426-C946-3A12-A4C4231EF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429001"/>
            <a:ext cx="6400800" cy="2623456"/>
          </a:xfrm>
        </p:spPr>
        <p:txBody>
          <a:bodyPr>
            <a:normAutofit/>
          </a:bodyPr>
          <a:lstStyle/>
          <a:p>
            <a:r>
              <a:rPr lang="es-ES" dirty="0"/>
              <a:t>Comparación de métodos exactos, heurísticos y aproximados</a:t>
            </a:r>
          </a:p>
        </p:txBody>
      </p:sp>
    </p:spTree>
    <p:extLst>
      <p:ext uri="{BB962C8B-B14F-4D97-AF65-F5344CB8AC3E}">
        <p14:creationId xmlns:p14="http://schemas.microsoft.com/office/powerpoint/2010/main" val="25330166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Fuerza Bruta – Tiempo vs 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2C11AB-6BCE-53B5-D302-8856C71E26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83" y="1276576"/>
            <a:ext cx="6689634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D6E58-14B2-BD4A-61BA-9A5B11670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4AC2F8-43A7-EBB1-AE33-092682712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34" y="274638"/>
            <a:ext cx="7103866" cy="63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1125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D781F-3DA9-A6D8-52B1-A8F0540CC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502048"/>
          </a:xfrm>
        </p:spPr>
        <p:txBody>
          <a:bodyPr>
            <a:normAutofit/>
          </a:bodyPr>
          <a:lstStyle/>
          <a:p>
            <a:r>
              <a:rPr lang="es-UY" dirty="0"/>
              <a:t>Tiempo estimado para n=19:</a:t>
            </a:r>
            <a:br>
              <a:rPr lang="es-UY" dirty="0"/>
            </a:br>
            <a:r>
              <a:rPr lang="es-UY" b="1" dirty="0"/>
              <a:t>1.296 años </a:t>
            </a:r>
            <a:r>
              <a:rPr lang="es-UY" dirty="0"/>
              <a:t>(en mi pc)</a:t>
            </a:r>
            <a:br>
              <a:rPr lang="es-UY" dirty="0"/>
            </a:br>
            <a:r>
              <a:rPr lang="en-US" b="1" dirty="0"/>
              <a:t>6.758.905 </a:t>
            </a:r>
            <a:r>
              <a:rPr lang="en-US" b="1" dirty="0" err="1"/>
              <a:t>años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en</a:t>
            </a:r>
            <a:r>
              <a:rPr lang="en-US" dirty="0"/>
              <a:t> Google </a:t>
            </a:r>
            <a:r>
              <a:rPr lang="en-US" dirty="0" err="1"/>
              <a:t>Colab</a:t>
            </a:r>
            <a:r>
              <a:rPr lang="en-US" dirty="0"/>
              <a:t>)</a:t>
            </a:r>
            <a:br>
              <a:rPr lang="en-US" dirty="0"/>
            </a:b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876583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8D002-F09A-71F3-2570-E699C527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 err="1"/>
              <a:t>Backtracking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B6CF18-7B89-D831-A9C2-A913116E1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62" y="1278390"/>
            <a:ext cx="7117275" cy="531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09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UY" dirty="0"/>
              <a:t>BF</a:t>
            </a:r>
            <a:r>
              <a:rPr dirty="0"/>
              <a:t> vs Backtracking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76F79-32E7-5263-D1E3-211611470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007" y="1110795"/>
            <a:ext cx="6885985" cy="548708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 err="1"/>
              <a:t>Greedy</a:t>
            </a:r>
            <a:r>
              <a:rPr lang="es-UY" dirty="0"/>
              <a:t> – </a:t>
            </a:r>
            <a:r>
              <a:rPr lang="es-UY" dirty="0" err="1"/>
              <a:t>Nearest</a:t>
            </a:r>
            <a:r>
              <a:rPr lang="es-UY" dirty="0"/>
              <a:t> </a:t>
            </a:r>
            <a:r>
              <a:rPr lang="es-UY" dirty="0" err="1"/>
              <a:t>Neighbor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2142-7053-AE87-18DF-1383706D1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99" y="1131433"/>
            <a:ext cx="7193643" cy="560463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D1263-329C-0D9F-523C-27910FCA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Comparación de los 3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34C69B-406D-EF9D-18F6-522F8B414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1095375"/>
            <a:ext cx="752475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922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FE9E-428D-8204-751D-E9B79B91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NN+2-Opt + el resto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F751F2-0541-34AA-2CEC-F1E8CFE8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7" y="1127125"/>
            <a:ext cx="84677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420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7A432-AA0B-9E1E-F5B5-E148692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E6238D-DDAB-2E05-9058-7B8438A6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606" y="274638"/>
            <a:ext cx="6792273" cy="2333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F08187-B81F-21EA-04CD-E57306F5A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896" y="3183332"/>
            <a:ext cx="5305691" cy="3400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804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79DD8A-DBF2-DEB9-8C53-364A8B00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74" y="1000545"/>
            <a:ext cx="7897330" cy="435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284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1018</Words>
  <Application>Microsoft Office PowerPoint</Application>
  <PresentationFormat>On-screen Show (4:3)</PresentationFormat>
  <Paragraphs>141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Cambria Math</vt:lpstr>
      <vt:lpstr>Office Theme</vt:lpstr>
      <vt:lpstr>Teoría de la Computación</vt:lpstr>
      <vt:lpstr>Presentación</vt:lpstr>
      <vt:lpstr>Evaluaciones</vt:lpstr>
      <vt:lpstr>Puntajes</vt:lpstr>
      <vt:lpstr>El parcial es CON material</vt:lpstr>
      <vt:lpstr>Comunicación oficial</vt:lpstr>
      <vt:lpstr>Tarea introductoria</vt:lpstr>
      <vt:lpstr>Pregunta:</vt:lpstr>
      <vt:lpstr>Halting Problem (HP)</vt:lpstr>
      <vt:lpstr>Bibliografía</vt:lpstr>
      <vt:lpstr>Ejemplo 1: ¿Termina para toda entrada?</vt:lpstr>
      <vt:lpstr>Ejemplo 2: ¿Termina para toda entrada?</vt:lpstr>
      <vt:lpstr>Ejemplo 3: ¿Termina para toda entrada?</vt:lpstr>
      <vt:lpstr>Ejemplo 4: ¿Termina para toda entrada?</vt:lpstr>
      <vt:lpstr>Ejemplo 5: ¿Termina para toda entrada?</vt:lpstr>
      <vt:lpstr>Conjetura de Collatz</vt:lpstr>
      <vt:lpstr>¿Terminan? ¿Qué tienen en común?</vt:lpstr>
      <vt:lpstr>Recursión primitiva</vt:lpstr>
      <vt:lpstr>PowerPoint Presentation</vt:lpstr>
      <vt:lpstr>Recursión estructural: Árboles</vt:lpstr>
      <vt:lpstr>Recursión bien fundada</vt:lpstr>
      <vt:lpstr>Recursión bien fundada</vt:lpstr>
      <vt:lpstr>Recursión</vt:lpstr>
      <vt:lpstr>Preguntas</vt:lpstr>
      <vt:lpstr>Observaciones</vt:lpstr>
      <vt:lpstr>Observaciones</vt:lpstr>
      <vt:lpstr>Algunas conclusiones</vt:lpstr>
      <vt:lpstr>Ejemplo Dafny</vt:lpstr>
      <vt:lpstr>Pregunta</vt:lpstr>
      <vt:lpstr>Traveling Salesman Problem (TSP)</vt:lpstr>
      <vt:lpstr>Fuerza Bruta – Tiempo vs n</vt:lpstr>
      <vt:lpstr>PowerPoint Presentation</vt:lpstr>
      <vt:lpstr>Tiempo estimado para n=19: 1.296 años (en mi pc) 6.758.905 años (en Google Colab) </vt:lpstr>
      <vt:lpstr>Backtracking</vt:lpstr>
      <vt:lpstr>BF vs Backtracking</vt:lpstr>
      <vt:lpstr>Greedy – Nearest Neighbor</vt:lpstr>
      <vt:lpstr>Comparación de los 3</vt:lpstr>
      <vt:lpstr>NN+2-Opt + el resto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Acuña</dc:creator>
  <cp:keywords/>
  <dc:description>generated using python-pptx</dc:description>
  <cp:lastModifiedBy>Diego Alejandro Acuña Bespalko</cp:lastModifiedBy>
  <cp:revision>8</cp:revision>
  <dcterms:created xsi:type="dcterms:W3CDTF">2013-01-27T09:14:16Z</dcterms:created>
  <dcterms:modified xsi:type="dcterms:W3CDTF">2026-02-27T20:51:23Z</dcterms:modified>
  <cp:category/>
</cp:coreProperties>
</file>