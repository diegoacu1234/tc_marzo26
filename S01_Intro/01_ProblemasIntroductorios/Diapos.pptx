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6" r:id="rId3"/>
    <p:sldId id="268" r:id="rId4"/>
    <p:sldId id="269" r:id="rId5"/>
    <p:sldId id="270" r:id="rId6"/>
    <p:sldId id="271" r:id="rId7"/>
    <p:sldId id="272" r:id="rId8"/>
    <p:sldId id="273" r:id="rId9"/>
    <p:sldId id="277" r:id="rId10"/>
    <p:sldId id="275" r:id="rId11"/>
    <p:sldId id="278" r:id="rId12"/>
    <p:sldId id="279" r:id="rId13"/>
    <p:sldId id="280" r:id="rId14"/>
    <p:sldId id="281" r:id="rId15"/>
    <p:sldId id="282" r:id="rId16"/>
    <p:sldId id="285" r:id="rId17"/>
    <p:sldId id="283" r:id="rId18"/>
    <p:sldId id="284" r:id="rId19"/>
    <p:sldId id="274" r:id="rId20"/>
    <p:sldId id="286" r:id="rId21"/>
    <p:sldId id="267" r:id="rId22"/>
    <p:sldId id="257" r:id="rId23"/>
    <p:sldId id="260" r:id="rId24"/>
    <p:sldId id="261" r:id="rId25"/>
    <p:sldId id="262" r:id="rId26"/>
    <p:sldId id="258" r:id="rId27"/>
    <p:sldId id="259" r:id="rId28"/>
    <p:sldId id="263" r:id="rId29"/>
    <p:sldId id="264" r:id="rId30"/>
    <p:sldId id="265" r:id="rId31"/>
    <p:sldId id="266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64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53054"/>
            <a:ext cx="7772400" cy="1470025"/>
          </a:xfrm>
        </p:spPr>
        <p:txBody>
          <a:bodyPr/>
          <a:lstStyle/>
          <a:p>
            <a:r>
              <a:rPr lang="en-US" dirty="0"/>
              <a:t>Halting Problem (HP)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429001"/>
            <a:ext cx="6400800" cy="2623456"/>
          </a:xfrm>
        </p:spPr>
        <p:txBody>
          <a:bodyPr>
            <a:normAutofit/>
          </a:bodyPr>
          <a:lstStyle/>
          <a:p>
            <a:r>
              <a:rPr lang="es-ES" dirty="0"/>
              <a:t>Comparación de métodos exactos, heurísticos y aproximados</a:t>
            </a:r>
          </a:p>
          <a:p>
            <a:endParaRPr lang="es-ES" dirty="0"/>
          </a:p>
          <a:p>
            <a:r>
              <a:rPr lang="es-ES" dirty="0"/>
              <a:t>Diego Acuña – TC – 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9DB06-DF13-4D92-7DC4-2B3B9132C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/>
              <a:t>Bibliografía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FB1CD-EA68-9F94-8587-3C278CCA2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https://cs.uns.edu.ar/materias/tc2do/downloads/Apuntes/Funciones%20Recursivas-TdC2019.pdf</a:t>
            </a:r>
          </a:p>
        </p:txBody>
      </p:sp>
    </p:spTree>
    <p:extLst>
      <p:ext uri="{BB962C8B-B14F-4D97-AF65-F5344CB8AC3E}">
        <p14:creationId xmlns:p14="http://schemas.microsoft.com/office/powerpoint/2010/main" val="1241529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D80C5-86D6-912C-CCBE-56A459D5A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487508" cy="1143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Ejemplo</a:t>
            </a:r>
            <a:r>
              <a:rPr lang="en-US" dirty="0"/>
              <a:t> 1: </a:t>
            </a:r>
            <a:r>
              <a:rPr lang="es-UY" dirty="0"/>
              <a:t>¿Termina para toda entrada?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99D3F-5F2B-693F-B2B0-5FBA6B78A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UY" dirty="0"/>
          </a:p>
          <a:p>
            <a:pPr marL="0" indent="0">
              <a:buNone/>
            </a:pPr>
            <a:endParaRPr lang="es-UY" dirty="0"/>
          </a:p>
          <a:p>
            <a:pPr marL="0" indent="0">
              <a:buNone/>
            </a:pPr>
            <a:r>
              <a:rPr lang="es-UY" dirty="0" err="1"/>
              <a:t>int</a:t>
            </a:r>
            <a:r>
              <a:rPr lang="es-UY" dirty="0"/>
              <a:t> f (</a:t>
            </a:r>
            <a:r>
              <a:rPr lang="es-UY" dirty="0" err="1"/>
              <a:t>int</a:t>
            </a:r>
            <a:r>
              <a:rPr lang="es-UY" dirty="0"/>
              <a:t> x, </a:t>
            </a:r>
            <a:r>
              <a:rPr lang="es-UY" dirty="0" err="1"/>
              <a:t>int</a:t>
            </a:r>
            <a:r>
              <a:rPr lang="es-UY" dirty="0"/>
              <a:t> y) </a:t>
            </a: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return x + y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09281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226EE-4998-59AB-AD49-83A89FFF1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686E0-52D0-2730-BADC-53E4B8F65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487508" cy="1143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Ejemplo</a:t>
            </a:r>
            <a:r>
              <a:rPr lang="en-US" dirty="0"/>
              <a:t> 2: </a:t>
            </a:r>
            <a:r>
              <a:rPr lang="es-UY" dirty="0"/>
              <a:t>¿Termina para toda entrada?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2842D-6DC9-E617-82CF-E9D9EBA2A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UY" dirty="0"/>
          </a:p>
          <a:p>
            <a:pPr marL="0" indent="0">
              <a:buNone/>
            </a:pPr>
            <a:endParaRPr lang="es-UY" dirty="0"/>
          </a:p>
          <a:p>
            <a:pPr marL="0" indent="0">
              <a:buNone/>
            </a:pPr>
            <a:r>
              <a:rPr lang="es-UY" dirty="0" err="1"/>
              <a:t>int</a:t>
            </a:r>
            <a:r>
              <a:rPr lang="es-UY" dirty="0"/>
              <a:t> f (</a:t>
            </a:r>
            <a:r>
              <a:rPr lang="es-UY" dirty="0" err="1"/>
              <a:t>int</a:t>
            </a:r>
            <a:r>
              <a:rPr lang="es-UY" dirty="0"/>
              <a:t> x, </a:t>
            </a:r>
            <a:r>
              <a:rPr lang="es-UY" dirty="0" err="1"/>
              <a:t>int</a:t>
            </a:r>
            <a:r>
              <a:rPr lang="es-UY" dirty="0"/>
              <a:t> y) </a:t>
            </a: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return x / y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13385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2A4B8-5874-20EC-7AE9-D80B62393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EA4AB-66E8-3BDC-84A0-3FBF92C7B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487508" cy="1143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Ejemplo</a:t>
            </a:r>
            <a:r>
              <a:rPr lang="en-US" dirty="0"/>
              <a:t> 3: </a:t>
            </a:r>
            <a:r>
              <a:rPr lang="es-UY" dirty="0"/>
              <a:t>¿Termina para toda entrada?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4F83D-FB49-90D4-DAD1-59F7FB133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UY" dirty="0"/>
          </a:p>
          <a:p>
            <a:pPr marL="0" indent="0">
              <a:buNone/>
            </a:pPr>
            <a:endParaRPr lang="es-UY" dirty="0"/>
          </a:p>
          <a:p>
            <a:pPr marL="0" indent="0">
              <a:buNone/>
            </a:pPr>
            <a:r>
              <a:rPr lang="es-UY" dirty="0" err="1"/>
              <a:t>int</a:t>
            </a:r>
            <a:r>
              <a:rPr lang="es-UY" dirty="0"/>
              <a:t> f (</a:t>
            </a:r>
            <a:r>
              <a:rPr lang="es-UY" dirty="0" err="1"/>
              <a:t>int</a:t>
            </a:r>
            <a:r>
              <a:rPr lang="es-UY" dirty="0"/>
              <a:t> x, </a:t>
            </a:r>
            <a:r>
              <a:rPr lang="es-UY" dirty="0" err="1"/>
              <a:t>int</a:t>
            </a:r>
            <a:r>
              <a:rPr lang="es-UY" dirty="0"/>
              <a:t> y) </a:t>
            </a: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while (true){}</a:t>
            </a:r>
          </a:p>
          <a:p>
            <a:pPr marL="0" indent="0">
              <a:buNone/>
            </a:pPr>
            <a:r>
              <a:rPr lang="en-US" dirty="0"/>
              <a:t>	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89822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FD9E7-D79C-7905-3F11-4A5BD8EC1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79499-FEAB-6A65-8603-42C0CF234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487508" cy="1143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Ejemplo</a:t>
            </a:r>
            <a:r>
              <a:rPr lang="en-US" dirty="0"/>
              <a:t> 4: </a:t>
            </a:r>
            <a:r>
              <a:rPr lang="es-UY" dirty="0"/>
              <a:t>¿Termina para toda entrada?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248E1-A697-97BC-D57F-114A53E10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s-UY" dirty="0"/>
          </a:p>
          <a:p>
            <a:pPr marL="0" indent="0">
              <a:buNone/>
            </a:pPr>
            <a:endParaRPr lang="es-UY" dirty="0"/>
          </a:p>
          <a:p>
            <a:pPr marL="0" indent="0">
              <a:buNone/>
            </a:pPr>
            <a:r>
              <a:rPr lang="es-UY" dirty="0" err="1"/>
              <a:t>int</a:t>
            </a:r>
            <a:r>
              <a:rPr lang="es-UY" dirty="0"/>
              <a:t> f (</a:t>
            </a:r>
            <a:r>
              <a:rPr lang="es-UY" dirty="0" err="1"/>
              <a:t>int</a:t>
            </a:r>
            <a:r>
              <a:rPr lang="es-UY" dirty="0"/>
              <a:t> n) </a:t>
            </a: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if ( n == 0 ) { </a:t>
            </a:r>
          </a:p>
          <a:p>
            <a:pPr marL="0" indent="0">
              <a:buNone/>
            </a:pPr>
            <a:r>
              <a:rPr lang="en-US" dirty="0"/>
              <a:t>		return  f(0);</a:t>
            </a:r>
          </a:p>
          <a:p>
            <a:pPr marL="0" indent="0">
              <a:buNone/>
            </a:pPr>
            <a:r>
              <a:rPr lang="en-US" dirty="0"/>
              <a:t>	} else {</a:t>
            </a:r>
          </a:p>
          <a:p>
            <a:pPr marL="0" indent="0">
              <a:buNone/>
            </a:pPr>
            <a:r>
              <a:rPr lang="en-US" dirty="0"/>
              <a:t>		return 0;</a:t>
            </a:r>
          </a:p>
          <a:p>
            <a:pPr marL="0" indent="0">
              <a:buNone/>
            </a:pPr>
            <a:r>
              <a:rPr lang="en-US" dirty="0"/>
              <a:t>	}	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07850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9735A-3709-920C-A254-2B7BC4DB6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B792C-845C-890D-F181-A2AFF256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487508" cy="1143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Ejemplo</a:t>
            </a:r>
            <a:r>
              <a:rPr lang="en-US" dirty="0"/>
              <a:t> 5: </a:t>
            </a:r>
            <a:r>
              <a:rPr lang="es-UY" dirty="0"/>
              <a:t>¿Termina para toda entrada?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A5051-3C51-CDBA-1D1A-108E54A31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UY" dirty="0" err="1"/>
              <a:t>int</a:t>
            </a:r>
            <a:r>
              <a:rPr lang="es-UY" dirty="0"/>
              <a:t> f (</a:t>
            </a:r>
            <a:r>
              <a:rPr lang="es-UY" dirty="0" err="1"/>
              <a:t>int</a:t>
            </a:r>
            <a:r>
              <a:rPr lang="es-UY" dirty="0"/>
              <a:t> n) </a:t>
            </a: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if ( n == 1 ) { </a:t>
            </a:r>
          </a:p>
          <a:p>
            <a:pPr marL="0" indent="0">
              <a:buNone/>
            </a:pPr>
            <a:r>
              <a:rPr lang="en-US" dirty="0"/>
              <a:t>		return  1;</a:t>
            </a:r>
          </a:p>
          <a:p>
            <a:pPr marL="0" indent="0">
              <a:buNone/>
            </a:pPr>
            <a:r>
              <a:rPr lang="en-US" dirty="0"/>
              <a:t>	} else {</a:t>
            </a:r>
          </a:p>
          <a:p>
            <a:pPr marL="0" indent="0">
              <a:buNone/>
            </a:pPr>
            <a:r>
              <a:rPr lang="en-US" dirty="0"/>
              <a:t>		if (n % 2  == 0 ) { return f(n/2) }</a:t>
            </a:r>
          </a:p>
          <a:p>
            <a:pPr marL="0" indent="0">
              <a:buNone/>
            </a:pPr>
            <a:r>
              <a:rPr lang="en-US" dirty="0"/>
              <a:t>		else { return f(3*n+1) }</a:t>
            </a:r>
          </a:p>
          <a:p>
            <a:pPr marL="0" indent="0">
              <a:buNone/>
            </a:pPr>
            <a:r>
              <a:rPr lang="en-US" dirty="0"/>
              <a:t>	}	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0950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20FB2-89A6-E3E8-7277-113C3F3D8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Conjetura</a:t>
            </a:r>
            <a:r>
              <a:rPr lang="en-US" dirty="0"/>
              <a:t> de Collatz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08639-51D8-A4E4-02BB-C9F6070B0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A124755E-246F-DC41-21A0-A5802916D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71600"/>
            <a:ext cx="868680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580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723AB-97DC-795F-1AEB-162771DC8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UY" dirty="0"/>
              <a:t>¿Terminan? ¿Qué tienen en común?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E5095-D77F-7C2C-8B92-3943BB42C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marL="0" indent="0">
              <a:buNone/>
            </a:pPr>
            <a:r>
              <a:rPr lang="en-US" sz="2400" dirty="0"/>
              <a:t>int </a:t>
            </a:r>
            <a:r>
              <a:rPr lang="en-US" sz="2400" b="1" dirty="0" err="1"/>
              <a:t>suma</a:t>
            </a:r>
            <a:r>
              <a:rPr lang="en-US" sz="2400" dirty="0"/>
              <a:t>(int a, int b) {</a:t>
            </a:r>
          </a:p>
          <a:p>
            <a:pPr marL="0" indent="0">
              <a:buNone/>
            </a:pPr>
            <a:r>
              <a:rPr lang="en-US" sz="2400" dirty="0"/>
              <a:t>    if (b == 0)</a:t>
            </a:r>
          </a:p>
          <a:p>
            <a:pPr marL="0" indent="0">
              <a:buNone/>
            </a:pPr>
            <a:r>
              <a:rPr lang="en-US" sz="2400" dirty="0"/>
              <a:t>        return a;</a:t>
            </a:r>
          </a:p>
          <a:p>
            <a:pPr marL="0" indent="0">
              <a:buNone/>
            </a:pPr>
            <a:r>
              <a:rPr lang="en-US" sz="2400" dirty="0"/>
              <a:t>    else</a:t>
            </a:r>
          </a:p>
          <a:p>
            <a:pPr marL="0" indent="0">
              <a:buNone/>
            </a:pPr>
            <a:r>
              <a:rPr lang="en-US" sz="2400" dirty="0"/>
              <a:t>        return </a:t>
            </a:r>
            <a:r>
              <a:rPr lang="en-US" sz="2400" dirty="0" err="1"/>
              <a:t>suma</a:t>
            </a:r>
            <a:r>
              <a:rPr lang="en-US" sz="2400" dirty="0"/>
              <a:t>(a, b - 1) + 1;}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int </a:t>
            </a:r>
            <a:r>
              <a:rPr lang="en-US" sz="2400" b="1" dirty="0" err="1"/>
              <a:t>minimo</a:t>
            </a:r>
            <a:r>
              <a:rPr lang="en-US" sz="2400" dirty="0"/>
              <a:t>(int a, int b) {</a:t>
            </a:r>
          </a:p>
          <a:p>
            <a:pPr marL="0" indent="0">
              <a:buNone/>
            </a:pPr>
            <a:r>
              <a:rPr lang="en-US" sz="2400" dirty="0"/>
              <a:t>    if (a == 0 || b == 0) return 0;</a:t>
            </a:r>
          </a:p>
          <a:p>
            <a:pPr marL="0" indent="0">
              <a:buNone/>
            </a:pPr>
            <a:r>
              <a:rPr lang="en-US" sz="2400" dirty="0"/>
              <a:t>    else return 1 + </a:t>
            </a:r>
            <a:r>
              <a:rPr lang="en-US" sz="2400" dirty="0" err="1"/>
              <a:t>minimo</a:t>
            </a:r>
            <a:r>
              <a:rPr lang="en-US" sz="2400" dirty="0"/>
              <a:t>(a - 1, b - 1);}</a:t>
            </a:r>
          </a:p>
          <a:p>
            <a:pPr marL="0" indent="0">
              <a:buNone/>
            </a:pPr>
            <a:r>
              <a:rPr lang="en-US" sz="2400" dirty="0"/>
              <a:t>int </a:t>
            </a:r>
            <a:r>
              <a:rPr lang="en-US" sz="2400" b="1" dirty="0"/>
              <a:t>factorial</a:t>
            </a:r>
            <a:r>
              <a:rPr lang="en-US" sz="2400" dirty="0"/>
              <a:t>(int n) {</a:t>
            </a:r>
          </a:p>
          <a:p>
            <a:pPr marL="0" indent="0">
              <a:buNone/>
            </a:pPr>
            <a:r>
              <a:rPr lang="en-US" sz="2400" dirty="0"/>
              <a:t>    if (n == 0)</a:t>
            </a:r>
          </a:p>
          <a:p>
            <a:pPr marL="0" indent="0">
              <a:buNone/>
            </a:pPr>
            <a:r>
              <a:rPr lang="en-US" sz="2400" dirty="0"/>
              <a:t>        return 1;</a:t>
            </a:r>
          </a:p>
          <a:p>
            <a:pPr marL="0" indent="0">
              <a:buNone/>
            </a:pPr>
            <a:r>
              <a:rPr lang="en-US" sz="2400" dirty="0"/>
              <a:t>    else</a:t>
            </a:r>
          </a:p>
          <a:p>
            <a:pPr marL="0" indent="0">
              <a:buNone/>
            </a:pPr>
            <a:r>
              <a:rPr lang="en-US" sz="2400" dirty="0"/>
              <a:t>        return </a:t>
            </a:r>
            <a:r>
              <a:rPr lang="en-US" sz="2400" dirty="0" err="1"/>
              <a:t>multiplicacion</a:t>
            </a:r>
            <a:r>
              <a:rPr lang="en-US" sz="2400" dirty="0"/>
              <a:t>(n, factorial(n - 1));}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74071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B02615-FB0F-51B5-94AF-3F7552777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Recursión primitiva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DEFD0B-DA4E-197C-EBFB-CEA933FC61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207" y="2627086"/>
            <a:ext cx="8788422" cy="2328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682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8485D9-7B1C-3F8E-C783-449273A8AA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2274" y="643466"/>
            <a:ext cx="585945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011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828620-0572-6BAD-3529-14F3D506E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05B99C5-B743-E6BA-97EF-E3EBD612C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9B2E2F-3D7D-716C-644F-DD0055077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Recursión</a:t>
            </a:r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estructural</a:t>
            </a:r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28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Árboles</a:t>
            </a:r>
            <a:endParaRPr lang="en-US" sz="2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70026DC-947C-BF8E-3B73-F1C275BAA9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s-UY" dirty="0" err="1"/>
                  <a:t>Ej</a:t>
                </a:r>
                <a:r>
                  <a:rPr lang="es-UY" dirty="0"/>
                  <a:t>: Altura, cantidad de nodos, máximo, etc...</a:t>
                </a:r>
              </a:p>
              <a:p>
                <a:r>
                  <a:rPr lang="es-ES" dirty="0"/>
                  <a:t>Toda función definida por recursión estructural sobre un tipo inductivo finito  </a:t>
                </a:r>
                <a:r>
                  <a:rPr lang="es-ES" b="1" dirty="0"/>
                  <a:t>siempre termina</a:t>
                </a:r>
                <a:r>
                  <a:rPr lang="es-ES" dirty="0"/>
                  <a:t>.</a:t>
                </a:r>
              </a:p>
              <a:p>
                <a:pPr marL="0" indent="0">
                  <a:buNone/>
                </a:pPr>
                <a:r>
                  <a:rPr lang="es-ES" b="1" dirty="0"/>
                  <a:t>Motivo:</a:t>
                </a:r>
                <a:endParaRPr lang="es-ES" dirty="0"/>
              </a:p>
              <a:p>
                <a:r>
                  <a:rPr lang="es-ES" dirty="0"/>
                  <a:t>Existe una relación de orden bien fundado (</a:t>
                </a:r>
                <a14:m>
                  <m:oMath xmlns:m="http://schemas.openxmlformats.org/officeDocument/2006/math">
                    <m:r>
                      <a:rPr lang="es-ES">
                        <a:latin typeface="Cambria Math" panose="02040503050406030204" pitchFamily="18" charset="0"/>
                      </a:rPr>
                      <m:t>≺</m:t>
                    </m:r>
                  </m:oMath>
                </a14:m>
                <a:r>
                  <a:rPr lang="es-ES" dirty="0"/>
                  <a:t>) sobre las subestructuras</a:t>
                </a:r>
              </a:p>
              <a:p>
                <a:r>
                  <a:rPr lang="es-ES" dirty="0"/>
                  <a:t>Cada llamada recursiva reduce estrictamente la medida estructural</a:t>
                </a:r>
              </a:p>
              <a:p>
                <a:r>
                  <a:rPr lang="es-ES" dirty="0"/>
                  <a:t>No existen cadenas infinitas descendentes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70026DC-947C-BF8E-3B73-F1C275BAA9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2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6354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6B1C4D-2392-F02B-5338-B826B283B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5CEDF0F-DED9-5583-3451-BF73E6397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0C9837-46F9-C649-6E88-57AE9E02D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Recursión</a:t>
            </a:r>
            <a:r>
              <a:rPr lang="en-US" sz="2800" dirty="0">
                <a:solidFill>
                  <a:schemeClr val="bg1"/>
                </a:solidFill>
              </a:rPr>
              <a:t> bien </a:t>
            </a:r>
            <a:r>
              <a:rPr lang="en-US" sz="2800" dirty="0" err="1">
                <a:solidFill>
                  <a:schemeClr val="bg1"/>
                </a:solidFill>
              </a:rPr>
              <a:t>fundada</a:t>
            </a:r>
            <a:endParaRPr lang="en-US" sz="2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F8B2B8F-54B4-A2B3-8017-36C0AAF4FF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UY" dirty="0"/>
                  <a:t>Ejemplo: ¿Termina?</a:t>
                </a:r>
              </a:p>
              <a:p>
                <a:pPr marL="0" indent="0">
                  <a:buNone/>
                </a:pPr>
                <a:endParaRPr lang="es-UY" dirty="0"/>
              </a:p>
              <a:p>
                <a:pPr marL="0" indent="0">
                  <a:buNone/>
                </a:pPr>
                <a:r>
                  <a:rPr lang="es-UY" dirty="0" err="1"/>
                  <a:t>sumIntervalo</a:t>
                </a:r>
                <a:r>
                  <a:rPr lang="es-UY" dirty="0"/>
                  <a:t> desde hasta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𝑑𝑒𝑠𝑑𝑒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h𝑎𝑠𝑡𝑎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s-UY" dirty="0"/>
              </a:p>
              <a:p>
                <a:pPr marL="0" indent="0">
                  <a:buNone/>
                </a:pPr>
                <a:endParaRPr lang="es-UY" dirty="0"/>
              </a:p>
              <a:p>
                <a:pPr marL="0" indent="0">
                  <a:buNone/>
                </a:pPr>
                <a:r>
                  <a:rPr lang="es-UY" sz="2400" dirty="0" err="1"/>
                  <a:t>sumIntervalo</a:t>
                </a:r>
                <a:r>
                  <a:rPr lang="es-UY" sz="2400" dirty="0"/>
                  <a:t> :: </a:t>
                </a:r>
                <a:r>
                  <a:rPr lang="es-UY" sz="2400" dirty="0" err="1"/>
                  <a:t>Int</a:t>
                </a:r>
                <a:r>
                  <a:rPr lang="es-UY" sz="2400" dirty="0"/>
                  <a:t> -</a:t>
                </a:r>
                <a:r>
                  <a:rPr lang="en-US" sz="2400" dirty="0"/>
                  <a:t>&gt; Int -&gt; Int</a:t>
                </a:r>
              </a:p>
              <a:p>
                <a:pPr marL="0" indent="0">
                  <a:buNone/>
                </a:pPr>
                <a:r>
                  <a:rPr lang="en-US" sz="2400" dirty="0" err="1"/>
                  <a:t>sumIntervalo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desde</a:t>
                </a:r>
                <a:r>
                  <a:rPr lang="en-US" sz="2400" dirty="0"/>
                  <a:t> hasta</a:t>
                </a:r>
              </a:p>
              <a:p>
                <a:pPr marL="0" indent="0">
                  <a:buNone/>
                </a:pPr>
                <a:r>
                  <a:rPr lang="en-US" sz="2400" dirty="0"/>
                  <a:t> | </a:t>
                </a:r>
                <a:r>
                  <a:rPr lang="en-US" sz="2400" dirty="0" err="1"/>
                  <a:t>desde</a:t>
                </a:r>
                <a:r>
                  <a:rPr lang="en-US" sz="2400" dirty="0"/>
                  <a:t> &lt;= hasta  = </a:t>
                </a:r>
                <a:r>
                  <a:rPr lang="en-US" sz="2400" dirty="0" err="1"/>
                  <a:t>desde</a:t>
                </a:r>
                <a:r>
                  <a:rPr lang="en-US" sz="2400" dirty="0"/>
                  <a:t> + (</a:t>
                </a:r>
                <a:r>
                  <a:rPr lang="en-US" sz="2400" dirty="0" err="1"/>
                  <a:t>sumIntervalo</a:t>
                </a:r>
                <a:r>
                  <a:rPr lang="en-US" sz="2400" dirty="0"/>
                  <a:t> (desde+1) hasta</a:t>
                </a:r>
              </a:p>
              <a:p>
                <a:pPr marL="0" indent="0">
                  <a:buNone/>
                </a:pPr>
                <a:r>
                  <a:rPr lang="en-US" sz="2400" dirty="0"/>
                  <a:t> | otherwise = 0 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F8B2B8F-54B4-A2B3-8017-36C0AAF4FF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632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32E6F2-29DE-6234-1BC3-B46243B70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1CFF34F-E1E7-4C7A-0728-7EE79EFED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D73F11-2047-7FB2-5E71-5C0807352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Recursión</a:t>
            </a:r>
            <a:r>
              <a:rPr lang="en-US" sz="2800" dirty="0">
                <a:solidFill>
                  <a:schemeClr val="bg1"/>
                </a:solidFill>
              </a:rPr>
              <a:t> bien </a:t>
            </a:r>
            <a:r>
              <a:rPr lang="en-US" sz="2800" dirty="0" err="1">
                <a:solidFill>
                  <a:schemeClr val="bg1"/>
                </a:solidFill>
              </a:rPr>
              <a:t>fundada</a:t>
            </a:r>
            <a:endParaRPr lang="en-US" sz="2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BD86D28-66FF-A212-6F08-B107C4B46F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sz="2000" dirty="0"/>
                  <a:t>Sea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e>
                        <m:r>
                          <a:rPr lang="ar-AE" sz="2000" i="0">
                            <a:latin typeface="Cambria Math" panose="02040503050406030204" pitchFamily="18" charset="0"/>
                          </a:rPr>
                          <m:t>≺</m:t>
                        </m:r>
                      </m:e>
                    </m:d>
                  </m:oMath>
                </a14:m>
                <a:r>
                  <a:rPr lang="en-US" sz="2000" dirty="0"/>
                  <a:t>un conjunto con </a:t>
                </a:r>
                <a:r>
                  <a:rPr lang="en-US" sz="2000" dirty="0" err="1"/>
                  <a:t>una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relación</a:t>
                </a:r>
                <a:r>
                  <a:rPr lang="en-US" sz="2000" dirty="0"/>
                  <a:t> </a:t>
                </a:r>
                <a:r>
                  <a:rPr lang="en-US" sz="2000" b="1" dirty="0"/>
                  <a:t>bien </a:t>
                </a:r>
                <a:r>
                  <a:rPr lang="en-US" sz="2000" b="1" dirty="0" err="1"/>
                  <a:t>fundada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≺</m:t>
                    </m:r>
                  </m:oMath>
                </a14:m>
                <a:r>
                  <a:rPr lang="en-US" sz="2000" dirty="0"/>
                  <a:t>(es </a:t>
                </a:r>
                <a:r>
                  <a:rPr lang="en-US" sz="2000" dirty="0" err="1"/>
                  <a:t>decir</a:t>
                </a:r>
                <a:r>
                  <a:rPr lang="en-US" sz="2000" dirty="0"/>
                  <a:t>, sin </a:t>
                </a:r>
                <a:r>
                  <a:rPr lang="en-US" sz="2000" dirty="0" err="1"/>
                  <a:t>cadenas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infinitas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descendentes</a:t>
                </a:r>
                <a:r>
                  <a:rPr lang="en-US" sz="2000" dirty="0"/>
                  <a:t>).</a:t>
                </a:r>
              </a:p>
              <a:p>
                <a:pPr>
                  <a:buNone/>
                </a:pPr>
                <a:r>
                  <a:rPr lang="en-US" sz="2000" b="1" dirty="0" err="1"/>
                  <a:t>Definición</a:t>
                </a:r>
                <a:r>
                  <a:rPr lang="en-US" sz="2000" b="1" dirty="0"/>
                  <a:t> formal:</a:t>
                </a:r>
                <a:endParaRPr lang="en-US" sz="20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ar-AE" sz="2000" b="0" i="1">
                          <a:latin typeface="Cambria Math" panose="02040503050406030204" pitchFamily="18" charset="0"/>
                        </a:rPr>
                        <m:t>  </m:t>
                      </m:r>
                      <m:d>
                        <m:dPr>
                          <m:begChr m:val="{"/>
                          <m:endChr m:val="}"/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ar-AE" sz="2000" b="0" i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ar-AE" sz="2000" b="0" i="0">
                              <a:latin typeface="Cambria Math" panose="02040503050406030204" pitchFamily="18" charset="0"/>
                            </a:rPr>
                            <m:t>≺</m:t>
                          </m:r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2000" b="0" i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sz="2000" b="0" dirty="0"/>
              </a:p>
              <a:p>
                <a:pPr>
                  <a:buNone/>
                </a:pPr>
                <a:r>
                  <a:rPr lang="en-US" sz="2000" dirty="0"/>
                  <a:t>Una </a:t>
                </a:r>
                <a:r>
                  <a:rPr lang="en-US" sz="2000" dirty="0" err="1"/>
                  <a:t>función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está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definida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por</a:t>
                </a:r>
                <a:r>
                  <a:rPr lang="en-US" sz="2000" dirty="0"/>
                  <a:t> </a:t>
                </a:r>
                <a:r>
                  <a:rPr lang="en-US" sz="2000" b="1" dirty="0" err="1"/>
                  <a:t>recursión</a:t>
                </a:r>
                <a:r>
                  <a:rPr lang="en-US" sz="2000" b="1" dirty="0"/>
                  <a:t> bien </a:t>
                </a:r>
                <a:r>
                  <a:rPr lang="en-US" sz="2000" b="1" dirty="0" err="1"/>
                  <a:t>fundada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cada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llamada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recursiva</a:t>
                </a:r>
                <a:r>
                  <a:rPr lang="en-US" sz="2000" dirty="0"/>
                  <a:t> se </a:t>
                </a:r>
                <a:r>
                  <a:rPr lang="en-US" sz="2000" dirty="0" err="1"/>
                  <a:t>realiza</a:t>
                </a:r>
                <a:r>
                  <a:rPr lang="en-US" sz="2000" dirty="0"/>
                  <a:t> </a:t>
                </a:r>
                <a:r>
                  <a:rPr lang="en-US" sz="2000" b="1" dirty="0" err="1"/>
                  <a:t>únicamente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sobre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elementos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estrictamente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menores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que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el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argumento</a:t>
                </a:r>
                <a:r>
                  <a:rPr lang="en-US" sz="2000" dirty="0"/>
                  <a:t> actual </a:t>
                </a:r>
                <a:r>
                  <a:rPr lang="en-US" sz="2000" dirty="0" err="1"/>
                  <a:t>respecto</a:t>
                </a:r>
                <a:r>
                  <a:rPr lang="en-US" sz="2000" dirty="0"/>
                  <a:t> a </a:t>
                </a:r>
                <a:r>
                  <a:rPr lang="en-US" sz="2000" dirty="0" err="1"/>
                  <a:t>una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relación</a:t>
                </a:r>
                <a:r>
                  <a:rPr lang="en-US" sz="2000" dirty="0"/>
                  <a:t> bien </a:t>
                </a:r>
                <a:r>
                  <a:rPr lang="en-US" sz="2000" dirty="0" err="1"/>
                  <a:t>fundada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≺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BD86D28-66FF-A212-6F08-B107C4B46F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1962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23940-F036-E947-1995-576748B5C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Recursión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26D0D5-8FA7-0C00-F697-FD91A40F45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en-US" b="0"/>
                            <m:t>Primitiva</m:t>
                          </m:r>
                          <m:r>
                            <m:rPr>
                              <m:nor/>
                            </m:rPr>
                            <a:rPr lang="en-US" b="0" i="1"/>
                            <m:t>  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⊂</m:t>
                          </m:r>
                          <m:r>
                            <m:rPr>
                              <m:nor/>
                            </m:rPr>
                            <a:rPr lang="en-US" i="1"/>
                            <m:t>  </m:t>
                          </m:r>
                          <m:r>
                            <m:rPr>
                              <m:nor/>
                            </m:rPr>
                            <a:rPr lang="en-US" i="1"/>
                            <m:t>Estructural</m:t>
                          </m:r>
                          <m:r>
                            <m:rPr>
                              <m:nor/>
                            </m:rPr>
                            <a:rPr lang="en-US" i="1"/>
                            <m:t>  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⊂</m:t>
                          </m:r>
                          <m:r>
                            <m:rPr>
                              <m:nor/>
                            </m:rPr>
                            <a:rPr lang="en-US" i="1"/>
                            <m:t>  </m:t>
                          </m:r>
                          <m:r>
                            <m:rPr>
                              <m:nor/>
                            </m:rPr>
                            <a:rPr lang="en-US" i="1"/>
                            <m:t>Bien</m:t>
                          </m:r>
                          <m:r>
                            <m:rPr>
                              <m:nor/>
                            </m:rPr>
                            <a:rPr lang="en-US" i="1"/>
                            <m:t> </m:t>
                          </m:r>
                          <m:r>
                            <m:rPr>
                              <m:nor/>
                            </m:rPr>
                            <a:rPr lang="en-US" i="1"/>
                            <m:t>fundada</m:t>
                          </m:r>
                        </m:e>
                      </m:borderBox>
                    </m:oMath>
                  </m:oMathPara>
                </a14:m>
                <a:endParaRPr lang="ar-AE" b="0" dirty="0"/>
              </a:p>
              <a:p>
                <a:r>
                  <a:rPr lang="en-US" dirty="0"/>
                  <a:t>Toda </a:t>
                </a:r>
                <a:r>
                  <a:rPr lang="en-US" dirty="0" err="1"/>
                  <a:t>recursión</a:t>
                </a:r>
                <a:r>
                  <a:rPr lang="en-US" dirty="0"/>
                  <a:t> </a:t>
                </a:r>
                <a:r>
                  <a:rPr lang="en-US" b="1" dirty="0" err="1"/>
                  <a:t>primitiva</a:t>
                </a:r>
                <a:r>
                  <a:rPr lang="en-US" dirty="0"/>
                  <a:t> es </a:t>
                </a:r>
                <a:r>
                  <a:rPr lang="en-US" dirty="0" err="1"/>
                  <a:t>estructural</a:t>
                </a:r>
                <a:r>
                  <a:rPr lang="en-US" dirty="0"/>
                  <a:t> </a:t>
                </a:r>
                <a:r>
                  <a:rPr lang="en-US" dirty="0" err="1"/>
                  <a:t>sobre</a:t>
                </a:r>
                <a:r>
                  <a:rPr lang="en-US" dirty="0"/>
                  <a:t> ℕ</a:t>
                </a:r>
              </a:p>
              <a:p>
                <a:r>
                  <a:rPr lang="en-US" dirty="0"/>
                  <a:t>Toda </a:t>
                </a:r>
                <a:r>
                  <a:rPr lang="en-US" dirty="0" err="1"/>
                  <a:t>recursión</a:t>
                </a:r>
                <a:r>
                  <a:rPr lang="en-US" dirty="0"/>
                  <a:t> </a:t>
                </a:r>
                <a:r>
                  <a:rPr lang="en-US" b="1" dirty="0" err="1"/>
                  <a:t>estructural</a:t>
                </a:r>
                <a:r>
                  <a:rPr lang="en-US" dirty="0"/>
                  <a:t> es bien </a:t>
                </a:r>
                <a:r>
                  <a:rPr lang="en-US" dirty="0" err="1"/>
                  <a:t>fundada</a:t>
                </a:r>
                <a:endParaRPr lang="en-US" dirty="0"/>
              </a:p>
              <a:p>
                <a:r>
                  <a:rPr lang="en-US" dirty="0"/>
                  <a:t>No </a:t>
                </a:r>
                <a:r>
                  <a:rPr lang="en-US" dirty="0" err="1"/>
                  <a:t>toda</a:t>
                </a:r>
                <a:r>
                  <a:rPr lang="en-US" dirty="0"/>
                  <a:t> </a:t>
                </a:r>
                <a:r>
                  <a:rPr lang="en-US" dirty="0" err="1"/>
                  <a:t>recursión</a:t>
                </a:r>
                <a:r>
                  <a:rPr lang="en-US" dirty="0"/>
                  <a:t> bien </a:t>
                </a:r>
                <a:r>
                  <a:rPr lang="en-US" dirty="0" err="1"/>
                  <a:t>fundada</a:t>
                </a:r>
                <a:r>
                  <a:rPr lang="en-US" dirty="0"/>
                  <a:t> es </a:t>
                </a:r>
                <a:r>
                  <a:rPr lang="en-US" dirty="0" err="1"/>
                  <a:t>estructural</a:t>
                </a:r>
                <a:endParaRPr lang="en-US" dirty="0"/>
              </a:p>
              <a:p>
                <a:r>
                  <a:rPr lang="en-US" dirty="0"/>
                  <a:t>No </a:t>
                </a:r>
                <a:r>
                  <a:rPr lang="en-US" dirty="0" err="1"/>
                  <a:t>toda</a:t>
                </a:r>
                <a:r>
                  <a:rPr lang="en-US" dirty="0"/>
                  <a:t> </a:t>
                </a:r>
                <a:r>
                  <a:rPr lang="en-US" dirty="0" err="1"/>
                  <a:t>recursión</a:t>
                </a:r>
                <a:r>
                  <a:rPr lang="en-US" dirty="0"/>
                  <a:t> </a:t>
                </a:r>
                <a:r>
                  <a:rPr lang="en-US" dirty="0" err="1"/>
                  <a:t>estructural</a:t>
                </a:r>
                <a:r>
                  <a:rPr lang="en-US" dirty="0"/>
                  <a:t> es </a:t>
                </a:r>
                <a:r>
                  <a:rPr lang="en-US" dirty="0" err="1"/>
                  <a:t>primitiva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26D0D5-8FA7-0C00-F697-FD91A40F45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r="-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2732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F4DDC-C426-A57E-BFC1-92CE8EBD3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Preguntas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1ECFD-2BCF-2C36-BBD4-5C49AA4DE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“¿Cómo distinguirías entre un programa que no termina y uno que tarda mucho?”</a:t>
            </a:r>
          </a:p>
          <a:p>
            <a:r>
              <a:rPr lang="es-ES" dirty="0"/>
              <a:t>“¿Qué significa saber con certeza que no termina?”</a:t>
            </a:r>
          </a:p>
          <a:p>
            <a:r>
              <a:rPr lang="es-ES" dirty="0"/>
              <a:t>“¿Puedes demostrar que no va a terminar sin ejecutarlo?”</a:t>
            </a:r>
          </a:p>
          <a:p>
            <a:r>
              <a:rPr lang="es-ES" dirty="0"/>
              <a:t>“¿Qué pasa si el programa se analiza a sí mismo?”</a:t>
            </a:r>
          </a:p>
          <a:p>
            <a:r>
              <a:rPr lang="es-ES" dirty="0"/>
              <a:t>“¿Puede un programa predecirse a sí mismo?”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707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2B9C3-5CD1-F218-08DC-52731D455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Observaciones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2D5E5-82EC-FA86-71F8-050F27976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ES" dirty="0"/>
              <a:t>Podemos detectar la terminación en algunos casos particulares, pero el desafío es decidirla para todos los programas posibles.</a:t>
            </a:r>
          </a:p>
          <a:p>
            <a:r>
              <a:rPr lang="es-ES" dirty="0"/>
              <a:t>Un </a:t>
            </a:r>
            <a:r>
              <a:rPr lang="es-ES" dirty="0" err="1"/>
              <a:t>timeout</a:t>
            </a:r>
            <a:r>
              <a:rPr lang="es-ES" dirty="0"/>
              <a:t> no resuelve el problema: si un programa no terminó aún, no sabemos si va a terminar más adelante o si nunca lo hará.</a:t>
            </a:r>
          </a:p>
          <a:p>
            <a:r>
              <a:rPr lang="es-ES" dirty="0"/>
              <a:t>La dificultad surge porque los programas pueden contener </a:t>
            </a:r>
            <a:r>
              <a:rPr lang="es-ES" dirty="0" err="1"/>
              <a:t>loops</a:t>
            </a:r>
            <a:r>
              <a:rPr lang="es-ES" dirty="0"/>
              <a:t> y recursión sin límite, lo que genera comportamientos potencialmente infinitos.</a:t>
            </a:r>
          </a:p>
          <a:p>
            <a:r>
              <a:rPr lang="es-ES" dirty="0"/>
              <a:t>Si restringimos el lenguaje (por ejemplo, eliminando </a:t>
            </a:r>
            <a:r>
              <a:rPr lang="es-ES" dirty="0" err="1"/>
              <a:t>loops</a:t>
            </a:r>
            <a:r>
              <a:rPr lang="es-ES" dirty="0"/>
              <a:t> no acotados), ahí podríamos.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4096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B4D0F-119D-C4C0-1F61-62C99E11B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39BBC-12A8-9FC8-8208-42DB7873D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Observaciones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1B17D-7AAD-B23B-8897-ED4CAC17B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Pero </a:t>
            </a:r>
            <a:r>
              <a:rPr lang="en-US" dirty="0" err="1"/>
              <a:t>entonces</a:t>
            </a:r>
            <a:r>
              <a:rPr lang="en-US" dirty="0"/>
              <a:t> 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hacen</a:t>
            </a:r>
            <a:r>
              <a:rPr lang="en-US" dirty="0"/>
              <a:t>...</a:t>
            </a:r>
          </a:p>
          <a:p>
            <a:pPr>
              <a:buFontTx/>
              <a:buChar char="-"/>
            </a:pPr>
            <a:r>
              <a:rPr lang="en-US" dirty="0"/>
              <a:t>Los antivirus</a:t>
            </a:r>
          </a:p>
          <a:p>
            <a:pPr>
              <a:buFontTx/>
              <a:buChar char="-"/>
            </a:pPr>
            <a:r>
              <a:rPr lang="en-US" dirty="0"/>
              <a:t>Los </a:t>
            </a:r>
            <a:r>
              <a:rPr lang="en-US" dirty="0" err="1"/>
              <a:t>compiladores</a:t>
            </a:r>
            <a:endParaRPr lang="en-US" dirty="0"/>
          </a:p>
          <a:p>
            <a:pPr>
              <a:buFontTx/>
              <a:buChar char="-"/>
            </a:pPr>
            <a:r>
              <a:rPr lang="en-US" dirty="0"/>
              <a:t>El Sistema </a:t>
            </a:r>
            <a:r>
              <a:rPr lang="en-US" dirty="0" err="1"/>
              <a:t>operativo</a:t>
            </a:r>
            <a:endParaRPr lang="en-US" dirty="0"/>
          </a:p>
          <a:p>
            <a:pPr>
              <a:buFontTx/>
              <a:buChar char="-"/>
            </a:pPr>
            <a:r>
              <a:rPr lang="en-US" dirty="0"/>
              <a:t>El debugger</a:t>
            </a:r>
          </a:p>
        </p:txBody>
      </p:sp>
    </p:spTree>
    <p:extLst>
      <p:ext uri="{BB962C8B-B14F-4D97-AF65-F5344CB8AC3E}">
        <p14:creationId xmlns:p14="http://schemas.microsoft.com/office/powerpoint/2010/main" val="6594491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BA662-2CE3-37A8-F5F0-5295110CE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Algunas</a:t>
            </a:r>
            <a:r>
              <a:rPr lang="en-US" dirty="0"/>
              <a:t> </a:t>
            </a:r>
            <a:r>
              <a:rPr lang="en-US" dirty="0" err="1"/>
              <a:t>conclusiones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9EF14-142E-2741-9827-5A618A5F4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No puede existir un compilador perfecto que detecte todos los </a:t>
            </a:r>
            <a:r>
              <a:rPr lang="es-ES" dirty="0" err="1"/>
              <a:t>loops</a:t>
            </a:r>
            <a:r>
              <a:rPr lang="es-ES" dirty="0"/>
              <a:t> infinitos posibles. DEMOSTRACIÓN</a:t>
            </a:r>
          </a:p>
          <a:p>
            <a:r>
              <a:rPr lang="es-ES" dirty="0"/>
              <a:t>Ningún algoritmo —ni siquiera una IA— puede resolver el problema en general, porque es una limitación matemática demostrada.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7887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24E91-7BEE-9931-A9FE-00DD448F8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Ejemplo</a:t>
            </a:r>
            <a:r>
              <a:rPr lang="en-US" dirty="0"/>
              <a:t> Dafny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E1629-D89F-A683-34BD-9CC62ADFA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A48BE8-98B9-DCAD-3984-67676E942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53939"/>
            <a:ext cx="8463237" cy="34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658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410AB-5A09-27DC-E105-6CD7ECFD2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116B6-B8EF-C733-0B1A-4C6C1D5A84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53054"/>
            <a:ext cx="7772400" cy="1470025"/>
          </a:xfrm>
        </p:spPr>
        <p:txBody>
          <a:bodyPr/>
          <a:lstStyle/>
          <a:p>
            <a:r>
              <a:rPr dirty="0"/>
              <a:t>Traveling Salesman Problem (TSP)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CD68A-3426-C946-3A12-A4C4231EF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429001"/>
            <a:ext cx="6400800" cy="2623456"/>
          </a:xfrm>
        </p:spPr>
        <p:txBody>
          <a:bodyPr>
            <a:normAutofit/>
          </a:bodyPr>
          <a:lstStyle/>
          <a:p>
            <a:r>
              <a:rPr lang="es-ES" dirty="0"/>
              <a:t>Comparación de métodos exactos, heurísticos y aproximados</a:t>
            </a:r>
          </a:p>
        </p:txBody>
      </p:sp>
    </p:spTree>
    <p:extLst>
      <p:ext uri="{BB962C8B-B14F-4D97-AF65-F5344CB8AC3E}">
        <p14:creationId xmlns:p14="http://schemas.microsoft.com/office/powerpoint/2010/main" val="25330166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Fuerza Bruta – Tiempo vs 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2C11AB-6BCE-53B5-D302-8856C71E2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183" y="1276576"/>
            <a:ext cx="6689634" cy="53213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D6E58-14B2-BD4A-61BA-9A5B11670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4AC2F8-43A7-EBB1-AE33-092682712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934" y="274638"/>
            <a:ext cx="7103866" cy="634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1125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D781F-3DA9-A6D8-52B1-A8F0540CC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502048"/>
          </a:xfrm>
        </p:spPr>
        <p:txBody>
          <a:bodyPr>
            <a:normAutofit/>
          </a:bodyPr>
          <a:lstStyle/>
          <a:p>
            <a:r>
              <a:rPr lang="es-UY" dirty="0"/>
              <a:t>Tiempo estimado para n=19:</a:t>
            </a:r>
            <a:br>
              <a:rPr lang="es-UY" dirty="0"/>
            </a:br>
            <a:r>
              <a:rPr lang="es-UY" b="1" dirty="0"/>
              <a:t>1.296 años </a:t>
            </a:r>
            <a:r>
              <a:rPr lang="es-UY" dirty="0"/>
              <a:t>(en mi pc)</a:t>
            </a:r>
            <a:br>
              <a:rPr lang="es-UY" dirty="0"/>
            </a:br>
            <a:r>
              <a:rPr lang="en-US" b="1" dirty="0"/>
              <a:t>6.758.905 </a:t>
            </a:r>
            <a:r>
              <a:rPr lang="en-US" b="1" dirty="0" err="1"/>
              <a:t>años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 err="1"/>
              <a:t>en</a:t>
            </a:r>
            <a:r>
              <a:rPr lang="en-US" dirty="0"/>
              <a:t> Google </a:t>
            </a:r>
            <a:r>
              <a:rPr lang="en-US" dirty="0" err="1"/>
              <a:t>Colab</a:t>
            </a:r>
            <a:r>
              <a:rPr lang="en-US" dirty="0"/>
              <a:t>)</a:t>
            </a:r>
            <a:br>
              <a:rPr lang="en-US" dirty="0"/>
            </a:b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876583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8D002-F09A-71F3-2570-E699C527F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err="1"/>
              <a:t>Backtracking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B6CF18-7B89-D831-A9C2-A913116E1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362" y="1278390"/>
            <a:ext cx="7117275" cy="531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509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s-UY" dirty="0"/>
              <a:t>BF</a:t>
            </a:r>
            <a:r>
              <a:rPr dirty="0"/>
              <a:t> vs Backtracking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876F79-32E7-5263-D1E3-211611470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007" y="1110795"/>
            <a:ext cx="6885985" cy="548708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err="1"/>
              <a:t>Greedy</a:t>
            </a:r>
            <a:r>
              <a:rPr lang="es-UY" dirty="0"/>
              <a:t> – </a:t>
            </a:r>
            <a:r>
              <a:rPr lang="es-UY" dirty="0" err="1"/>
              <a:t>Nearest</a:t>
            </a:r>
            <a:r>
              <a:rPr lang="es-UY" dirty="0"/>
              <a:t> </a:t>
            </a:r>
            <a:r>
              <a:rPr lang="es-UY" dirty="0" err="1"/>
              <a:t>Neighbor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CF2142-7053-AE87-18DF-1383706D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899" y="1131433"/>
            <a:ext cx="7193643" cy="560463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D1263-329C-0D9F-523C-27910FCA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/>
              <a:t>Comparación de los 3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34C69B-406D-EF9D-18F6-522F8B414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1095375"/>
            <a:ext cx="752475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9220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FE9E-428D-8204-751D-E9B79B91D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/>
              <a:t>NN+2-Opt + el resto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F751F2-0541-34AA-2CEC-F1E8CFE8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7" y="1127125"/>
            <a:ext cx="84677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6420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7A432-AA0B-9E1E-F5B5-E1486920B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E6238D-DDAB-2E05-9058-7B8438A60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606" y="274638"/>
            <a:ext cx="6792273" cy="23339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F08187-B81F-21EA-04CD-E57306F5A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5896" y="3183332"/>
            <a:ext cx="5305691" cy="340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7804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B79DD8A-DBF2-DEB9-8C53-364A8B00C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574" y="1000545"/>
            <a:ext cx="7897330" cy="4355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284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817</Words>
  <Application>Microsoft Office PowerPoint</Application>
  <PresentationFormat>On-screen Show (4:3)</PresentationFormat>
  <Paragraphs>118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Cambria Math</vt:lpstr>
      <vt:lpstr>Office Theme</vt:lpstr>
      <vt:lpstr>Halting Problem (HP)</vt:lpstr>
      <vt:lpstr>Bibliografía</vt:lpstr>
      <vt:lpstr>Ejemplo 1: ¿Termina para toda entrada?</vt:lpstr>
      <vt:lpstr>Ejemplo 2: ¿Termina para toda entrada?</vt:lpstr>
      <vt:lpstr>Ejemplo 3: ¿Termina para toda entrada?</vt:lpstr>
      <vt:lpstr>Ejemplo 4: ¿Termina para toda entrada?</vt:lpstr>
      <vt:lpstr>Ejemplo 5: ¿Termina para toda entrada?</vt:lpstr>
      <vt:lpstr>Conjetura de Collatz</vt:lpstr>
      <vt:lpstr>¿Terminan? ¿Qué tienen en común?</vt:lpstr>
      <vt:lpstr>Recursión primitiva</vt:lpstr>
      <vt:lpstr>PowerPoint Presentation</vt:lpstr>
      <vt:lpstr>Recursión estructural: Árboles</vt:lpstr>
      <vt:lpstr>Recursión bien fundada</vt:lpstr>
      <vt:lpstr>Recursión bien fundada</vt:lpstr>
      <vt:lpstr>Recursión</vt:lpstr>
      <vt:lpstr>Preguntas</vt:lpstr>
      <vt:lpstr>Observaciones</vt:lpstr>
      <vt:lpstr>Observaciones</vt:lpstr>
      <vt:lpstr>Algunas conclusiones</vt:lpstr>
      <vt:lpstr>Ejemplo Dafny</vt:lpstr>
      <vt:lpstr>Traveling Salesman Problem (TSP)</vt:lpstr>
      <vt:lpstr>Fuerza Bruta – Tiempo vs n</vt:lpstr>
      <vt:lpstr>PowerPoint Presentation</vt:lpstr>
      <vt:lpstr>Tiempo estimado para n=19: 1.296 años (en mi pc) 6.758.905 años (en Google Colab) </vt:lpstr>
      <vt:lpstr>Backtracking</vt:lpstr>
      <vt:lpstr>BF vs Backtracking</vt:lpstr>
      <vt:lpstr>Greedy – Nearest Neighbor</vt:lpstr>
      <vt:lpstr>Comparación de los 3</vt:lpstr>
      <vt:lpstr>NN+2-Opt + el resto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Diego Acuña</dc:creator>
  <cp:keywords/>
  <dc:description>generated using python-pptx</dc:description>
  <cp:lastModifiedBy>Diego Alejandro Acuña Bespalko</cp:lastModifiedBy>
  <cp:revision>7</cp:revision>
  <dcterms:created xsi:type="dcterms:W3CDTF">2013-01-27T09:14:16Z</dcterms:created>
  <dcterms:modified xsi:type="dcterms:W3CDTF">2026-02-26T00:55:49Z</dcterms:modified>
  <cp:category/>
</cp:coreProperties>
</file>