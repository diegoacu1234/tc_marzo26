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EF9D-D63F-D850-9E10-6E81973DB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FAF54-1362-4540-83A1-0C866EDE0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51BC2-3B15-ACB8-E05D-9EAFE1DB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AA9E2-E5C4-69E6-D170-F70F057F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5D524-8F79-CC66-0692-E64526D9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1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CAF8-13F2-74D5-575A-CF23982D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735F6-793B-1F93-0985-345C52750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117E-5AFB-D40F-FB30-E5F1002C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9F53-B309-5EE2-92D7-17C55BA9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86134-2231-1CA0-7FDF-1CC5FF3C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B882-A988-79FB-39F4-60E2135B6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EFB2F-939E-CEFC-0B2C-917231BD8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4FBA7-91C2-652F-31AB-4A1021CD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D912D-FE23-6235-F7AF-7DEFAEAC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9B1C0-F03C-62B3-896F-A185E1CD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7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B92C-4DBF-8CEB-AC0C-ED04C71D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5892A-9A76-18D1-3CF4-ED40B3D1A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EC4C9-BFCF-3FEB-DE39-E8F6FAD9E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63399-793E-776E-FDAA-2CE8E17D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6BAFA-693B-9534-35E3-D816B815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E936D-0947-D130-4534-67BEAD6C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3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636D-EB49-E441-B4BA-514B097E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80123-E8C1-4EB5-B159-BB7E2AC76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6CFE5-BD86-5E04-6EA9-4533ED777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2FF3F-C3CB-A731-4CAB-BE6D658BF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9E6D5C-0105-AEBD-E19C-35AA304A2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2AB52-1C89-2965-675A-21063F96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01A1C-06D0-FF2B-2DFE-FB3ECC3B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E09DB-70A5-0132-BE09-215C9949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8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D422-3B89-745E-E19D-A1D361CB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C41C3B-DFAA-934A-79CD-1A02EC14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6DF64-473F-646A-22C8-0D57E3E5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15FA6-D1AC-CC5B-60CA-586DE1FB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43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D3B7A-B931-66CF-CD88-51D9AE49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77652E-5DD0-9A1C-9C7A-472F0E6B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DBADB-C953-25F7-6EF5-4B50791C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23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4E0F-A347-B443-BBD1-C893B44B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D5E40-C25E-3190-72C3-735D43F4A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5A656-92CD-41C0-CDC5-0CD9A7B85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FA298-2AC9-3EA6-0AAE-C2B506AD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6DD23-79F0-9B36-BE54-24CA0877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28E3D-DAD7-D3DE-5983-020F3A07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21A7-DEBF-C68C-A987-780B09EF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2154C-0A38-FA2B-7BDD-102A7E4C9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89762-DEC4-AB47-0476-0DAD6A947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65A5A-C685-253D-C37A-82BA5CE8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CAB74-9FAD-C8B0-43D5-FBA51483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65128-454A-1E37-2DFB-4F78B56F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4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B157-28D0-0FD8-D896-697FD0D7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1067F-6D54-B82A-A55A-D07BD662A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68272-5BE6-8787-2FF7-4CD4D7B3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2B2E-E9DD-81B7-BD47-736C5933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4F76B-040C-4291-2F26-13C6A912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5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AABC1E-F1D0-7C2D-E1C9-670FB38DA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43775-497A-235A-0EDF-C4A9CC654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595E2-AB15-3689-5F23-BEE1D307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CAB9D-3F93-2FBC-EFD9-6D578E17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1E552-D828-F006-667D-04485108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9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75D205-4EB4-49D7-37D5-E3EBD6E0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17234-225A-37C6-2983-F08E5F26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B6E7F-BAA8-E5C6-E2E8-C00A067D3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96000-7419-462D-B732-6F5D798F4BB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730CB-671E-EA1F-511E-702E35BF4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D5609-5F95-E788-E83D-ADD10808A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1A5B3-B077-406F-B2AC-6B595C048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4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ela.com.br/haskell-c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494B-8080-FFA3-BB1E-A47A8B893F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Repaso</a:t>
            </a:r>
            <a:r>
              <a:rPr lang="en-US" dirty="0"/>
              <a:t> Haskell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21F1-43DA-98BF-03C6-48582544CF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Diego </a:t>
            </a:r>
            <a:r>
              <a:rPr lang="en-US" dirty="0" err="1"/>
              <a:t>Acu</a:t>
            </a:r>
            <a:r>
              <a:rPr lang="es-UY" dirty="0" err="1"/>
              <a:t>ña</a:t>
            </a:r>
            <a:r>
              <a:rPr lang="es-UY" dirty="0"/>
              <a:t> – TC – Marzo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6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1187-1FA6-7CD8-4257-50F78002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¿Qué es Haskell?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87711-B1A9-B635-3D53-F24C5D754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UY" dirty="0"/>
              <a:t>Lenguaje de programación funcional puro</a:t>
            </a:r>
          </a:p>
          <a:p>
            <a:r>
              <a:rPr lang="es-UY" dirty="0"/>
              <a:t>Evaluación perezosa</a:t>
            </a:r>
          </a:p>
          <a:p>
            <a:r>
              <a:rPr lang="es-UY" dirty="0"/>
              <a:t>Tipado estático y fuerte</a:t>
            </a:r>
            <a:endParaRPr lang="en-US" dirty="0"/>
          </a:p>
        </p:txBody>
      </p:sp>
      <p:pic>
        <p:nvPicPr>
          <p:cNvPr id="2050" name="Picture 2" descr="computer science - What is the difference between statically typed and  dynamically typed languages? - Stack Overflow">
            <a:extLst>
              <a:ext uri="{FF2B5EF4-FFF2-40B4-BE49-F238E27FC236}">
                <a16:creationId xmlns:a16="http://schemas.microsoft.com/office/drawing/2014/main" id="{3ED770D0-DAEE-73F9-F6D7-3490BC262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983" y="2772772"/>
            <a:ext cx="56959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28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C441-5FE5-F513-E4B8-52871CCE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Sintaxis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D4C2B-3D6B-06B6-2C80-AC40DE081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UY" dirty="0"/>
              <a:t>Definición de funciones</a:t>
            </a:r>
          </a:p>
          <a:p>
            <a:pPr marL="457200" lvl="1" indent="0">
              <a:buNone/>
            </a:pPr>
            <a:r>
              <a:rPr lang="es-UY" dirty="0"/>
              <a:t>suma :: </a:t>
            </a:r>
            <a:r>
              <a:rPr lang="es-UY" dirty="0" err="1"/>
              <a:t>Int</a:t>
            </a:r>
            <a:r>
              <a:rPr lang="es-UY" dirty="0"/>
              <a:t> -</a:t>
            </a:r>
            <a:r>
              <a:rPr lang="en-US" dirty="0"/>
              <a:t>&gt; Int -&gt; Int</a:t>
            </a:r>
          </a:p>
          <a:p>
            <a:pPr marL="457200" lvl="1" indent="0">
              <a:buNone/>
            </a:pPr>
            <a:r>
              <a:rPr lang="en-US" dirty="0" err="1"/>
              <a:t>suma</a:t>
            </a:r>
            <a:r>
              <a:rPr lang="en-US" dirty="0"/>
              <a:t> a b  =  a + b</a:t>
            </a:r>
            <a:endParaRPr lang="es-UY" dirty="0"/>
          </a:p>
          <a:p>
            <a:r>
              <a:rPr lang="es-UY" dirty="0"/>
              <a:t>Invocación de funciones</a:t>
            </a:r>
          </a:p>
          <a:p>
            <a:pPr marL="457200" lvl="1" indent="0">
              <a:buNone/>
            </a:pPr>
            <a:r>
              <a:rPr lang="es-UY" dirty="0"/>
              <a:t>suma 2 3</a:t>
            </a:r>
          </a:p>
          <a:p>
            <a:r>
              <a:rPr lang="es-UY" dirty="0"/>
              <a:t>Variables</a:t>
            </a:r>
          </a:p>
          <a:p>
            <a:pPr marL="457200" lvl="1" indent="0">
              <a:buNone/>
            </a:pPr>
            <a:r>
              <a:rPr lang="es-UY" dirty="0"/>
              <a:t>x = 10</a:t>
            </a:r>
          </a:p>
          <a:p>
            <a:pPr marL="457200" lvl="1" indent="0">
              <a:buNone/>
            </a:pPr>
            <a:r>
              <a:rPr lang="es-UY" dirty="0"/>
              <a:t>y = x +5</a:t>
            </a:r>
          </a:p>
          <a:p>
            <a:r>
              <a:rPr lang="es-UY" dirty="0"/>
              <a:t>Comentarios : -- para 1 línea y {- para bloque -}</a:t>
            </a:r>
          </a:p>
          <a:p>
            <a:pPr marL="0" indent="0">
              <a:buNone/>
            </a:pPr>
            <a:endParaRPr lang="es-UY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45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987F-94F0-F878-7109-A474BDED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24E0A-6C9E-07AD-6ABD-47F24AF0C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Funcionales</a:t>
            </a:r>
            <a:endParaRPr lang="en-US" dirty="0"/>
          </a:p>
          <a:p>
            <a:r>
              <a:rPr lang="en-US" dirty="0" err="1"/>
              <a:t>Abstractos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n-US" dirty="0"/>
          </a:p>
          <a:p>
            <a:r>
              <a:rPr lang="en-US" dirty="0" err="1"/>
              <a:t>Árboles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3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A8D5-FDB1-C6AB-31E0-E306EE57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Definir</a:t>
            </a:r>
            <a:r>
              <a:rPr lang="en-US" dirty="0"/>
              <a:t> un </a:t>
            </a:r>
            <a:r>
              <a:rPr lang="en-US" dirty="0" err="1"/>
              <a:t>tipo</a:t>
            </a:r>
            <a:r>
              <a:rPr lang="en-US" dirty="0"/>
              <a:t>: data vs.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1177C-E0CE-D3F6-89BA-C22D70D3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data se usa para crear nuevos tipos de datos reales, con constructores propios y estructura </a:t>
            </a:r>
            <a:r>
              <a:rPr lang="es-ES" dirty="0" err="1"/>
              <a:t>internaEn</a:t>
            </a:r>
            <a:r>
              <a:rPr lang="es-ES" dirty="0"/>
              <a:t> cambio, </a:t>
            </a:r>
            <a:r>
              <a:rPr lang="es-ES" dirty="0" err="1"/>
              <a:t>type</a:t>
            </a:r>
            <a:r>
              <a:rPr lang="es-ES" dirty="0"/>
              <a:t> se usa para crear sinónimos de tipos, es decir, alias de tipos existentes, sin crear un nuevo tipo en el sistema de tipos. </a:t>
            </a:r>
          </a:p>
          <a:p>
            <a:pPr marL="0" indent="0">
              <a:buNone/>
            </a:pPr>
            <a:r>
              <a:rPr lang="es-ES" dirty="0"/>
              <a:t>Un tipo definido con data es distinto a nivel de tipos, mientras que un </a:t>
            </a:r>
            <a:r>
              <a:rPr lang="es-ES" dirty="0" err="1"/>
              <a:t>type</a:t>
            </a:r>
            <a:r>
              <a:rPr lang="es-ES" dirty="0"/>
              <a:t> es solo un nombre alternativo para un tipo ya existente.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Por tanto, data crea tipos nuevos con identidad propia y </a:t>
            </a:r>
            <a:r>
              <a:rPr lang="es-ES" dirty="0" err="1"/>
              <a:t>type</a:t>
            </a:r>
            <a:r>
              <a:rPr lang="es-ES" dirty="0"/>
              <a:t> solo renombra tipos existentes para mejorar legibilidad.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5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C4747-3EC9-F6E0-7845-189D8DA6C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BDB0-7624-C73E-C8D5-06BE338B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Definir</a:t>
            </a:r>
            <a:r>
              <a:rPr lang="en-US" dirty="0"/>
              <a:t> un </a:t>
            </a:r>
            <a:r>
              <a:rPr lang="en-US" dirty="0" err="1"/>
              <a:t>tipo</a:t>
            </a:r>
            <a:r>
              <a:rPr lang="en-US" dirty="0"/>
              <a:t>: data vs.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4698-C032-86A5-AEB3-D0A348F52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N  where { O :: N ; S :: N -&gt; N}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type Nat =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s-UY" dirty="0"/>
              <a:t>¿</a:t>
            </a:r>
            <a:r>
              <a:rPr lang="en-US" dirty="0"/>
              <a:t>Son lo </a:t>
            </a:r>
            <a:r>
              <a:rPr lang="en-US" dirty="0" err="1"/>
              <a:t>mismo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 f :: N -&gt; Nat 	f :: Nat -&gt; N 		f :: N -&gt; N		f:: Nat -&gt; Nat</a:t>
            </a:r>
          </a:p>
        </p:txBody>
      </p:sp>
    </p:spTree>
    <p:extLst>
      <p:ext uri="{BB962C8B-B14F-4D97-AF65-F5344CB8AC3E}">
        <p14:creationId xmlns:p14="http://schemas.microsoft.com/office/powerpoint/2010/main" val="406470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13378-A1D8-CB3A-04EF-F24BE0A4F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Crear un tipo nuevo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CB830-0C84-3F30-EE04-87D351F3F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005"/>
          </a:xfrm>
        </p:spPr>
        <p:txBody>
          <a:bodyPr/>
          <a:lstStyle/>
          <a:p>
            <a:pPr marL="0" indent="0">
              <a:buNone/>
            </a:pPr>
            <a:r>
              <a:rPr lang="es-UY" dirty="0"/>
              <a:t>Notación de fundamentos:</a:t>
            </a:r>
          </a:p>
          <a:p>
            <a:pPr marL="0" indent="0">
              <a:buNone/>
            </a:pPr>
            <a:r>
              <a:rPr lang="es-UY" dirty="0"/>
              <a:t>	</a:t>
            </a:r>
            <a:r>
              <a:rPr lang="en-US" dirty="0"/>
              <a:t>data N  where { O :: N ; S :: N -&gt; N}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Notación</a:t>
            </a:r>
            <a:r>
              <a:rPr lang="en-US" dirty="0"/>
              <a:t> de </a:t>
            </a:r>
            <a:r>
              <a:rPr lang="en-US" dirty="0" err="1"/>
              <a:t>teoría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data N = O | S 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RECORDAR:</a:t>
            </a:r>
          </a:p>
          <a:p>
            <a:pPr marL="0" indent="0">
              <a:buNone/>
            </a:pPr>
            <a:r>
              <a:rPr lang="en-US" dirty="0" err="1"/>
              <a:t>Tipos</a:t>
            </a:r>
            <a:r>
              <a:rPr lang="en-US" dirty="0"/>
              <a:t> y sus </a:t>
            </a:r>
            <a:r>
              <a:rPr lang="en-US" dirty="0" err="1"/>
              <a:t>constructores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empezar</a:t>
            </a:r>
            <a:r>
              <a:rPr lang="en-US" dirty="0"/>
              <a:t> con </a:t>
            </a:r>
            <a:r>
              <a:rPr lang="en-US" dirty="0" err="1"/>
              <a:t>mayúscula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Funciones</a:t>
            </a:r>
            <a:r>
              <a:rPr lang="en-US" dirty="0"/>
              <a:t> y variables con </a:t>
            </a:r>
            <a:r>
              <a:rPr lang="en-US" dirty="0" err="1"/>
              <a:t>minúscula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5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EED7-1768-4183-FFAE-977C40444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Crear un </a:t>
            </a:r>
            <a:r>
              <a:rPr lang="en-US" dirty="0" err="1"/>
              <a:t>tipo</a:t>
            </a:r>
            <a:r>
              <a:rPr lang="en-US" dirty="0"/>
              <a:t> nuevo: </a:t>
            </a:r>
            <a:r>
              <a:rPr lang="en-US" dirty="0" err="1"/>
              <a:t>newtype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C1379-71A2-1316-A015-AAAE7C0B3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err="1"/>
              <a:t>newtype</a:t>
            </a:r>
            <a:r>
              <a:rPr lang="es-ES" dirty="0"/>
              <a:t> se utiliza para crear un nuevo tipo a partir de un tipo existente, pero sin el coste de memoria ni de ejecución que tiene data. A diferencia de </a:t>
            </a:r>
            <a:r>
              <a:rPr lang="es-ES" dirty="0" err="1"/>
              <a:t>type</a:t>
            </a:r>
            <a:r>
              <a:rPr lang="es-ES" dirty="0"/>
              <a:t>, </a:t>
            </a:r>
            <a:r>
              <a:rPr lang="es-ES" dirty="0" err="1"/>
              <a:t>newtype</a:t>
            </a:r>
            <a:r>
              <a:rPr lang="es-ES" dirty="0"/>
              <a:t> sí crea un tipo distinto en el sistema de tipos, pero solo puede tener un único constructor y un único campo. Se usa cuando se quiere seguridad de tipos (evitar confusiones entre tipos iguales internamente) sin penalización de rendimiento. Es común en </a:t>
            </a:r>
            <a:r>
              <a:rPr lang="es-ES" dirty="0" err="1"/>
              <a:t>TADs</a:t>
            </a:r>
            <a:r>
              <a:rPr lang="es-ES" dirty="0"/>
              <a:t>, </a:t>
            </a:r>
            <a:r>
              <a:rPr lang="es-ES" dirty="0" err="1"/>
              <a:t>wrappers</a:t>
            </a:r>
            <a:r>
              <a:rPr lang="es-ES" dirty="0"/>
              <a:t> semánticos y para dar significado a valores simples como </a:t>
            </a:r>
            <a:r>
              <a:rPr lang="es-ES" dirty="0" err="1"/>
              <a:t>Int</a:t>
            </a:r>
            <a:r>
              <a:rPr lang="es-ES" dirty="0"/>
              <a:t> o </a:t>
            </a:r>
            <a:r>
              <a:rPr lang="es-ES" dirty="0" err="1"/>
              <a:t>String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Ejemplo: </a:t>
            </a:r>
            <a:r>
              <a:rPr lang="es-ES" dirty="0" err="1"/>
              <a:t>newtype</a:t>
            </a:r>
            <a:r>
              <a:rPr lang="es-ES" dirty="0"/>
              <a:t> Natural = N </a:t>
            </a:r>
            <a:r>
              <a:rPr lang="es-ES" dirty="0" err="1"/>
              <a:t>Nat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3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B903-C4C4-5377-9D5A-2D1AA496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notation and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6A27-463C-384C-6506-F94A52E21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Fundamentos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par = \n -&gt; case n of {</a:t>
            </a:r>
          </a:p>
          <a:p>
            <a:pPr marL="0" indent="0">
              <a:buNone/>
            </a:pPr>
            <a:r>
              <a:rPr lang="en-US" dirty="0"/>
              <a:t>			O -&gt; True;</a:t>
            </a:r>
          </a:p>
          <a:p>
            <a:pPr marL="0" indent="0">
              <a:buNone/>
            </a:pPr>
            <a:r>
              <a:rPr lang="en-US" dirty="0"/>
              <a:t>			S x -&gt; not (par x) }</a:t>
            </a:r>
          </a:p>
          <a:p>
            <a:pPr marL="0" indent="0">
              <a:buNone/>
            </a:pPr>
            <a:r>
              <a:rPr lang="en-US" dirty="0" err="1"/>
              <a:t>capaz</a:t>
            </a:r>
            <a:r>
              <a:rPr lang="en-US" dirty="0"/>
              <a:t> </a:t>
            </a:r>
            <a:r>
              <a:rPr lang="en-US" dirty="0" err="1"/>
              <a:t>alguno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par n = case n of {</a:t>
            </a:r>
          </a:p>
          <a:p>
            <a:pPr marL="0" indent="0">
              <a:buNone/>
            </a:pPr>
            <a:r>
              <a:rPr lang="en-US" dirty="0"/>
              <a:t>			O -&gt; True;</a:t>
            </a:r>
          </a:p>
          <a:p>
            <a:pPr marL="0" indent="0">
              <a:buNone/>
            </a:pPr>
            <a:r>
              <a:rPr lang="en-US" dirty="0"/>
              <a:t>			S x -&gt; not (par x)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72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2B06-9876-CF68-818D-6455AC51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D20E-C876-FE0C-1B40-EE3C98DE6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F5AF4-968F-0123-7514-BC2BA9120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Fundamentos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par n = case n of {</a:t>
            </a:r>
          </a:p>
          <a:p>
            <a:pPr marL="0" indent="0">
              <a:buNone/>
            </a:pPr>
            <a:r>
              <a:rPr lang="en-US" dirty="0"/>
              <a:t>			O -&gt; True;</a:t>
            </a:r>
          </a:p>
          <a:p>
            <a:pPr marL="0" indent="0">
              <a:buNone/>
            </a:pPr>
            <a:r>
              <a:rPr lang="en-US" dirty="0"/>
              <a:t>			S x -&gt; not (par x)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Teoría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par O = True</a:t>
            </a:r>
          </a:p>
          <a:p>
            <a:pPr marL="0" indent="0">
              <a:buNone/>
            </a:pPr>
            <a:r>
              <a:rPr lang="en-US" dirty="0"/>
              <a:t>par (S x) = not (par x)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4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71584-14B9-6C9B-9C33-511BB320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 vs </a:t>
            </a:r>
            <a:r>
              <a:rPr lang="en-US" dirty="0" err="1"/>
              <a:t>Guardas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846EB-3BAD-369B-5801-90FDCA175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2880"/>
            <a:ext cx="6574277" cy="4835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filter  :: (a-&gt; Bool) -&gt; [a] -&gt; [a]</a:t>
            </a:r>
          </a:p>
          <a:p>
            <a:pPr marL="0" indent="0">
              <a:buNone/>
            </a:pPr>
            <a:r>
              <a:rPr lang="en-US" dirty="0"/>
              <a:t>filter p [] = []</a:t>
            </a:r>
          </a:p>
          <a:p>
            <a:pPr marL="0" indent="0">
              <a:buNone/>
            </a:pPr>
            <a:r>
              <a:rPr lang="en-US" dirty="0"/>
              <a:t>filter p (</a:t>
            </a:r>
            <a:r>
              <a:rPr lang="en-US" dirty="0" err="1"/>
              <a:t>x:xs</a:t>
            </a:r>
            <a:r>
              <a:rPr lang="en-US" dirty="0"/>
              <a:t>) = case p x of {</a:t>
            </a:r>
          </a:p>
          <a:p>
            <a:pPr marL="0" indent="0">
              <a:buNone/>
            </a:pPr>
            <a:r>
              <a:rPr lang="en-US" dirty="0"/>
              <a:t>			True -&gt; x: (filter p </a:t>
            </a:r>
            <a:r>
              <a:rPr lang="en-US" dirty="0" err="1"/>
              <a:t>xs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		False -&gt;filter p </a:t>
            </a:r>
            <a:r>
              <a:rPr lang="en-US" dirty="0" err="1"/>
              <a:t>xs</a:t>
            </a: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Existe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if then else también!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A0D73-34BE-5524-FBDC-9E4C863C3536}"/>
              </a:ext>
            </a:extLst>
          </p:cNvPr>
          <p:cNvSpPr txBox="1">
            <a:spLocks/>
          </p:cNvSpPr>
          <p:nvPr/>
        </p:nvSpPr>
        <p:spPr>
          <a:xfrm>
            <a:off x="7438417" y="2022880"/>
            <a:ext cx="65742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filter  :: (a-&gt; Bool) -&gt; [a] -&gt; [a]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filter p [] = []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filter p (</a:t>
            </a:r>
            <a:r>
              <a:rPr lang="en-US" dirty="0" err="1"/>
              <a:t>x:xs</a:t>
            </a:r>
            <a:r>
              <a:rPr lang="en-U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| p x = x : (filter p </a:t>
            </a:r>
            <a:r>
              <a:rPr lang="en-US" dirty="0" err="1"/>
              <a:t>xs</a:t>
            </a:r>
            <a:r>
              <a:rPr lang="en-U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| otherwise = filter p </a:t>
            </a:r>
            <a:r>
              <a:rPr lang="en-US" dirty="0" err="1"/>
              <a:t>xs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3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AC61-2A08-A533-1673-8AEF22B5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21B5-5206-EB95-BC88-1DC832D00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Una 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define comportamientos; los tipos implementan esos comportamientos como instancias.</a:t>
            </a:r>
          </a:p>
          <a:p>
            <a:pPr marL="0" indent="0">
              <a:buNone/>
            </a:pPr>
            <a:r>
              <a:rPr lang="es-ES" dirty="0" err="1"/>
              <a:t>elem</a:t>
            </a:r>
            <a:r>
              <a:rPr lang="es-ES" dirty="0"/>
              <a:t> :: </a:t>
            </a:r>
            <a:r>
              <a:rPr lang="es-ES" dirty="0" err="1"/>
              <a:t>Eq</a:t>
            </a:r>
            <a:r>
              <a:rPr lang="es-ES" dirty="0"/>
              <a:t> a =&gt; a -&gt; [a] -&gt; </a:t>
            </a:r>
            <a:r>
              <a:rPr lang="es-ES" dirty="0" err="1"/>
              <a:t>Bool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34642-66BF-958E-BA29-A4334904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5232"/>
            <a:ext cx="6403492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CC031E-7FDB-84D4-9E64-D87E6922F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26874"/>
            <a:ext cx="6213369" cy="111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27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268E-A310-EF86-28CF-42FDA58E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65B2-8EA1-7C4E-3A2A-527921E0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a usar:</a:t>
            </a:r>
          </a:p>
          <a:p>
            <a:pPr>
              <a:buFontTx/>
              <a:buChar char="-"/>
            </a:pPr>
            <a:r>
              <a:rPr lang="en-US" dirty="0"/>
              <a:t>Show</a:t>
            </a:r>
          </a:p>
          <a:p>
            <a:pPr>
              <a:buFontTx/>
              <a:buChar char="-"/>
            </a:pPr>
            <a:r>
              <a:rPr lang="en-US" dirty="0"/>
              <a:t>Eq</a:t>
            </a:r>
          </a:p>
          <a:p>
            <a:pPr>
              <a:buFontTx/>
              <a:buChar char="-"/>
            </a:pPr>
            <a:r>
              <a:rPr lang="en-US" dirty="0"/>
              <a:t>Ord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Ej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data N = O | S N  deriving Show</a:t>
            </a:r>
          </a:p>
        </p:txBody>
      </p:sp>
      <p:pic>
        <p:nvPicPr>
          <p:cNvPr id="1026" name="Picture 2" descr="The Haskell 98 Report: Predefined Types and Classes">
            <a:extLst>
              <a:ext uri="{FF2B5EF4-FFF2-40B4-BE49-F238E27FC236}">
                <a16:creationId xmlns:a16="http://schemas.microsoft.com/office/drawing/2014/main" id="{692E9B48-1BF1-6E51-7C99-2CDA2AAB6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540" y="0"/>
            <a:ext cx="5460460" cy="7052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013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325B-2756-D62C-39FD-E4B75F29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Maybe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48305-5A35-391F-1DEE-7B069E49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 </a:t>
            </a:r>
            <a:r>
              <a:rPr lang="en-US" dirty="0" err="1"/>
              <a:t>utiliza</a:t>
            </a:r>
            <a:r>
              <a:rPr lang="en-US" dirty="0"/>
              <a:t> para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existir</a:t>
            </a:r>
            <a:r>
              <a:rPr lang="en-US" dirty="0"/>
              <a:t> o no </a:t>
            </a:r>
            <a:r>
              <a:rPr lang="en-US" dirty="0" err="1"/>
              <a:t>existir</a:t>
            </a:r>
            <a:r>
              <a:rPr lang="en-US" dirty="0"/>
              <a:t>. En </a:t>
            </a:r>
            <a:r>
              <a:rPr lang="en-US" dirty="0" err="1"/>
              <a:t>lugar</a:t>
            </a:r>
            <a:r>
              <a:rPr lang="en-US" dirty="0"/>
              <a:t> de usar null, -1 o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inválidos</a:t>
            </a:r>
            <a:r>
              <a:rPr lang="en-US" dirty="0"/>
              <a:t>, Haskell </a:t>
            </a:r>
            <a:r>
              <a:rPr lang="en-US" dirty="0" err="1"/>
              <a:t>usa</a:t>
            </a:r>
            <a:r>
              <a:rPr lang="en-US" dirty="0"/>
              <a:t> Maybe para </a:t>
            </a:r>
            <a:r>
              <a:rPr lang="en-US" dirty="0" err="1"/>
              <a:t>modelar</a:t>
            </a:r>
            <a:r>
              <a:rPr lang="en-US" dirty="0"/>
              <a:t> la </a:t>
            </a:r>
            <a:r>
              <a:rPr lang="en-US" dirty="0" err="1"/>
              <a:t>ausencia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de forma </a:t>
            </a:r>
            <a:r>
              <a:rPr lang="en-US" dirty="0" err="1"/>
              <a:t>segura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 Maybe a = Nothing | Just a</a:t>
            </a:r>
          </a:p>
        </p:txBody>
      </p:sp>
    </p:spTree>
    <p:extLst>
      <p:ext uri="{BB962C8B-B14F-4D97-AF65-F5344CB8AC3E}">
        <p14:creationId xmlns:p14="http://schemas.microsoft.com/office/powerpoint/2010/main" val="190352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87F0-D959-AA60-B2DD-BDBE980B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Cláusula 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4ABA9-C2BF-3742-B06F-79689F65D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Ejemplos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notaFinal</a:t>
            </a:r>
            <a:r>
              <a:rPr lang="en-US" dirty="0"/>
              <a:t> </a:t>
            </a:r>
            <a:r>
              <a:rPr lang="en-US" dirty="0" err="1"/>
              <a:t>parcial</a:t>
            </a:r>
            <a:r>
              <a:rPr lang="en-US" dirty="0"/>
              <a:t> </a:t>
            </a:r>
            <a:r>
              <a:rPr lang="en-US" dirty="0" err="1"/>
              <a:t>defensas</a:t>
            </a:r>
            <a:r>
              <a:rPr lang="en-US" dirty="0"/>
              <a:t> </a:t>
            </a:r>
            <a:r>
              <a:rPr lang="en-US" dirty="0" err="1"/>
              <a:t>trabajo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| </a:t>
            </a:r>
            <a:r>
              <a:rPr lang="en-US" dirty="0" err="1"/>
              <a:t>promedio</a:t>
            </a:r>
            <a:r>
              <a:rPr lang="en-US" dirty="0"/>
              <a:t> &gt;= 70 = "</a:t>
            </a:r>
            <a:r>
              <a:rPr lang="en-US" dirty="0" err="1"/>
              <a:t>Aprobado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| otherwise     = “</a:t>
            </a:r>
            <a:r>
              <a:rPr lang="en-US" dirty="0" err="1"/>
              <a:t>Recursa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where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promedio</a:t>
            </a:r>
            <a:r>
              <a:rPr lang="en-US" dirty="0"/>
              <a:t> = (</a:t>
            </a:r>
            <a:r>
              <a:rPr lang="en-US" dirty="0" err="1"/>
              <a:t>parcial</a:t>
            </a:r>
            <a:r>
              <a:rPr lang="en-US" dirty="0"/>
              <a:t> * 0.3) + (</a:t>
            </a:r>
            <a:r>
              <a:rPr lang="en-US" dirty="0" err="1"/>
              <a:t>defensas</a:t>
            </a:r>
            <a:r>
              <a:rPr lang="en-US" dirty="0"/>
              <a:t> * 0.5) + (</a:t>
            </a:r>
            <a:r>
              <a:rPr lang="en-US" dirty="0" err="1"/>
              <a:t>trabajo</a:t>
            </a:r>
            <a:r>
              <a:rPr lang="en-US" dirty="0"/>
              <a:t> * 0.2)</a:t>
            </a:r>
          </a:p>
        </p:txBody>
      </p:sp>
    </p:spTree>
    <p:extLst>
      <p:ext uri="{BB962C8B-B14F-4D97-AF65-F5344CB8AC3E}">
        <p14:creationId xmlns:p14="http://schemas.microsoft.com/office/powerpoint/2010/main" val="2139895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F57A-6D8F-0356-86F8-823BEFA3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Cláusula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C4D7-E8DC-C600-F1BF-28BF0B8BA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983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precioFinal</a:t>
            </a:r>
            <a:r>
              <a:rPr lang="en-US" dirty="0"/>
              <a:t> </a:t>
            </a:r>
            <a:r>
              <a:rPr lang="en-US" dirty="0" err="1"/>
              <a:t>precio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  let </a:t>
            </a:r>
            <a:r>
              <a:rPr lang="en-US" dirty="0" err="1"/>
              <a:t>iva</a:t>
            </a:r>
            <a:r>
              <a:rPr lang="en-US" dirty="0"/>
              <a:t> = </a:t>
            </a:r>
            <a:r>
              <a:rPr lang="en-US" dirty="0" err="1"/>
              <a:t>precio</a:t>
            </a:r>
            <a:r>
              <a:rPr lang="en-US" dirty="0"/>
              <a:t> * 0.22</a:t>
            </a:r>
          </a:p>
          <a:p>
            <a:pPr marL="0" indent="0">
              <a:buNone/>
            </a:pPr>
            <a:r>
              <a:rPr lang="en-US" dirty="0"/>
              <a:t>      total = </a:t>
            </a:r>
            <a:r>
              <a:rPr lang="en-US" dirty="0" err="1"/>
              <a:t>precio</a:t>
            </a:r>
            <a:r>
              <a:rPr lang="en-US" dirty="0"/>
              <a:t> + </a:t>
            </a:r>
            <a:r>
              <a:rPr lang="en-US" dirty="0" err="1"/>
              <a:t>iva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in total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4AD099-1201-B1A5-F8B2-58C6A490BCB0}"/>
              </a:ext>
            </a:extLst>
          </p:cNvPr>
          <p:cNvSpPr txBox="1">
            <a:spLocks/>
          </p:cNvSpPr>
          <p:nvPr/>
        </p:nvSpPr>
        <p:spPr>
          <a:xfrm>
            <a:off x="6399179" y="1825625"/>
            <a:ext cx="45898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distancia (x1,y1) (x2,y2) 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  </a:t>
            </a:r>
            <a:r>
              <a:rPr lang="es-ES" dirty="0" err="1"/>
              <a:t>sqrt</a:t>
            </a:r>
            <a:r>
              <a:rPr lang="es-ES" dirty="0"/>
              <a:t> (</a:t>
            </a:r>
            <a:r>
              <a:rPr lang="es-ES" dirty="0" err="1"/>
              <a:t>dx</a:t>
            </a:r>
            <a:r>
              <a:rPr lang="es-ES" dirty="0"/>
              <a:t>*</a:t>
            </a:r>
            <a:r>
              <a:rPr lang="es-ES" dirty="0" err="1"/>
              <a:t>dx</a:t>
            </a:r>
            <a:r>
              <a:rPr lang="es-ES" dirty="0"/>
              <a:t> + </a:t>
            </a:r>
            <a:r>
              <a:rPr lang="es-ES" dirty="0" err="1"/>
              <a:t>dy</a:t>
            </a:r>
            <a:r>
              <a:rPr lang="es-ES" dirty="0"/>
              <a:t>*</a:t>
            </a:r>
            <a:r>
              <a:rPr lang="es-ES" dirty="0" err="1"/>
              <a:t>dy</a:t>
            </a:r>
            <a:r>
              <a:rPr lang="es-E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  </a:t>
            </a:r>
            <a:r>
              <a:rPr lang="es-ES" dirty="0" err="1"/>
              <a:t>where</a:t>
            </a: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    </a:t>
            </a:r>
            <a:r>
              <a:rPr lang="es-ES" dirty="0" err="1"/>
              <a:t>dx</a:t>
            </a:r>
            <a:r>
              <a:rPr lang="es-ES" dirty="0"/>
              <a:t> = x2 - x1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    </a:t>
            </a:r>
            <a:r>
              <a:rPr lang="es-ES" dirty="0" err="1"/>
              <a:t>dy</a:t>
            </a:r>
            <a:r>
              <a:rPr lang="es-ES" dirty="0"/>
              <a:t> = y2 - y1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147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44C1-E532-F26C-D780-64884FAF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 vs GUI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C816C-4EE8-5591-4410-5D49C57EE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244" y="152400"/>
            <a:ext cx="2106576" cy="2657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D2930-C4CB-3832-8EBA-7171A6485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5" y="1437951"/>
            <a:ext cx="7334250" cy="4730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B0F568-193A-6BFF-6BA0-99B46E58CBA5}"/>
              </a:ext>
            </a:extLst>
          </p:cNvPr>
          <p:cNvSpPr txBox="1"/>
          <p:nvPr/>
        </p:nvSpPr>
        <p:spPr>
          <a:xfrm>
            <a:off x="8023185" y="3586407"/>
            <a:ext cx="43815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Tip: </a:t>
            </a:r>
          </a:p>
          <a:p>
            <a:r>
              <a:rPr lang="en-US" dirty="0"/>
              <a:t>Tener </a:t>
            </a:r>
            <a:r>
              <a:rPr lang="en-US" dirty="0" err="1"/>
              <a:t>siempre</a:t>
            </a:r>
            <a:r>
              <a:rPr lang="en-US" dirty="0"/>
              <a:t> a mano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cheatsheet</a:t>
            </a:r>
            <a:r>
              <a:rPr lang="en-US" dirty="0"/>
              <a:t> de Haskell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50D6F-BA38-1641-DACD-2B4606B61118}"/>
              </a:ext>
            </a:extLst>
          </p:cNvPr>
          <p:cNvSpPr txBox="1"/>
          <p:nvPr/>
        </p:nvSpPr>
        <p:spPr>
          <a:xfrm>
            <a:off x="8023185" y="4705648"/>
            <a:ext cx="6200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https://matela.com.br/haskell-cs.pdf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D9E74-ED41-F36A-826A-3BD6EED87C91}"/>
              </a:ext>
            </a:extLst>
          </p:cNvPr>
          <p:cNvSpPr txBox="1"/>
          <p:nvPr/>
        </p:nvSpPr>
        <p:spPr>
          <a:xfrm>
            <a:off x="838200" y="6168629"/>
            <a:ext cx="7115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Kind of a type		             &gt;   :k </a:t>
            </a:r>
          </a:p>
        </p:txBody>
      </p:sp>
    </p:spTree>
    <p:extLst>
      <p:ext uri="{BB962C8B-B14F-4D97-AF65-F5344CB8AC3E}">
        <p14:creationId xmlns:p14="http://schemas.microsoft.com/office/powerpoint/2010/main" val="127707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850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Repaso Haskell</vt:lpstr>
      <vt:lpstr>¿Qué es Haskell?</vt:lpstr>
      <vt:lpstr>Sintaxis</vt:lpstr>
      <vt:lpstr>Tipos</vt:lpstr>
      <vt:lpstr>Definir un tipo: data vs. type</vt:lpstr>
      <vt:lpstr>Definir un tipo: data vs. type</vt:lpstr>
      <vt:lpstr>Crear un tipo nuevo</vt:lpstr>
      <vt:lpstr>Crear un tipo nuevo: newtype</vt:lpstr>
      <vt:lpstr>Lambda notation and cases</vt:lpstr>
      <vt:lpstr>Pattern matching</vt:lpstr>
      <vt:lpstr>Cases vs Guardas</vt:lpstr>
      <vt:lpstr>Clases</vt:lpstr>
      <vt:lpstr>Clases</vt:lpstr>
      <vt:lpstr>Data Maybe</vt:lpstr>
      <vt:lpstr>Cláusula where</vt:lpstr>
      <vt:lpstr>Cláusula let</vt:lpstr>
      <vt:lpstr>CLI vs GUI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Alejandro Acuña Bespalko</dc:creator>
  <cp:lastModifiedBy>Diego Alejandro Acuña Bespalko</cp:lastModifiedBy>
  <cp:revision>3</cp:revision>
  <dcterms:created xsi:type="dcterms:W3CDTF">2026-02-25T00:17:58Z</dcterms:created>
  <dcterms:modified xsi:type="dcterms:W3CDTF">2026-02-27T20:35:52Z</dcterms:modified>
</cp:coreProperties>
</file>