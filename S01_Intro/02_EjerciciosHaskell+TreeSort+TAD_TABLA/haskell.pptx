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1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0EF9D-D63F-D850-9E10-6E81973DB5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6FAF54-1362-4540-83A1-0C866EDE0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51BC2-3B15-ACB8-E05D-9EAFE1DB1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AA9E2-E5C4-69E6-D170-F70F057FD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5D524-8F79-CC66-0692-E64526D91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310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2CAF8-13F2-74D5-575A-CF23982D8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35F6-793B-1F93-0985-345C52750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D117E-5AFB-D40F-FB30-E5F1002CE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E9F53-B309-5EE2-92D7-17C55BA9B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86134-2231-1CA0-7FDF-1CC5FF3C2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7B882-A988-79FB-39F4-60E2135B6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EEFB2F-939E-CEFC-0B2C-917231BD8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4FBA7-91C2-652F-31AB-4A1021CD0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D912D-FE23-6235-F7AF-7DEFAEAC0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9B1C0-F03C-62B3-896F-A185E1CD6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9789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B92C-4DBF-8CEB-AC0C-ED04C71D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5892A-9A76-18D1-3CF4-ED40B3D1A2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AEC4C9-BFCF-3FEB-DE39-E8F6FAD9E4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D63399-793E-776E-FDAA-2CE8E17D4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6BAFA-693B-9534-35E3-D816B8152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E936D-0947-D130-4534-67BEAD6C0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539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636D-EB49-E441-B4BA-514B097E7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80123-E8C1-4EB5-B159-BB7E2AC76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96CFE5-BD86-5E04-6EA9-4533ED7771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02FF3F-C3CB-A731-4CAB-BE6D658BF2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9E6D5C-0105-AEBD-E19C-35AA304A2A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02AB52-1C89-2965-675A-21063F961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D01A1C-06D0-FF2B-2DFE-FB3ECC3B3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5E09DB-70A5-0132-BE09-215C99490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187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0D422-3B89-745E-E19D-A1D361CBC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C41C3B-DFAA-934A-79CD-1A02EC142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06DF64-473F-646A-22C8-0D57E3E52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415FA6-D1AC-CC5B-60CA-586DE1FB9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43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FD3B7A-B931-66CF-CD88-51D9AE495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7652E-5DD0-9A1C-9C7A-472F0E6B7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DBADB-C953-25F7-6EF5-4B50791C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823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4E0F-A347-B443-BBD1-C893B44BF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D5E40-C25E-3190-72C3-735D43F4A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5A656-92CD-41C0-CDC5-0CD9A7B85F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FA298-2AC9-3EA6-0AAE-C2B506AD5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26DD23-79F0-9B36-BE54-24CA08770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28E3D-DAD7-D3DE-5983-020F3A074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94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C21A7-DEBF-C68C-A987-780B09EF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D2154C-0A38-FA2B-7BDD-102A7E4C96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089762-DEC4-AB47-0476-0DAD6A9479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65A5A-C685-253D-C37A-82BA5CE84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1CAB74-9FAD-C8B0-43D5-FBA51483C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E65128-454A-1E37-2DFB-4F78B56F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240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7B157-28D0-0FD8-D896-697FD0D7A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1067F-6D54-B82A-A55A-D07BD662A1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68272-5BE6-8787-2FF7-4CD4D7B3F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C2B2E-E9DD-81B7-BD47-736C5933F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4F76B-040C-4291-2F26-13C6A912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056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AABC1E-F1D0-7C2D-E1C9-670FB38DAA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943775-497A-235A-0EDF-C4A9CC6543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0595E2-AB15-3689-5F23-BEE1D307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CAB9D-3F93-2FBC-EFD9-6D578E178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61E552-D828-F006-667D-04485108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97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75D205-4EB4-49D7-37D5-E3EBD6E00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E17234-225A-37C6-2983-F08E5F26C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B6E7F-BAA8-E5C6-E2E8-C00A067D37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596000-7419-462D-B732-6F5D798F4BB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730CB-671E-EA1F-511E-702E35BF48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D5609-5F95-E788-E83D-ADD10808A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F1A5B3-B077-406F-B2AC-6B595C048A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243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C494B-8080-FFA3-BB1E-A47A8B893F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Repaso</a:t>
            </a:r>
            <a:r>
              <a:rPr lang="en-US" dirty="0"/>
              <a:t> Haskell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1221F1-43DA-98BF-03C6-48582544CF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Diego </a:t>
            </a:r>
            <a:r>
              <a:rPr lang="en-US" dirty="0" err="1"/>
              <a:t>Acu</a:t>
            </a:r>
            <a:r>
              <a:rPr lang="es-UY" dirty="0" err="1"/>
              <a:t>ña</a:t>
            </a:r>
            <a:r>
              <a:rPr lang="es-UY" dirty="0"/>
              <a:t> – TC – Marzo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065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71187-1FA6-7CD8-4257-50F78002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¿Qué es Haskell?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87711-B1A9-B635-3D53-F24C5D754D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UY" dirty="0"/>
              <a:t>Lenguaje de programación funcional puro</a:t>
            </a:r>
          </a:p>
          <a:p>
            <a:r>
              <a:rPr lang="es-UY" dirty="0"/>
              <a:t>Evaluación perezosa</a:t>
            </a:r>
          </a:p>
          <a:p>
            <a:r>
              <a:rPr lang="es-UY" dirty="0"/>
              <a:t>Tipado estático y fuerte</a:t>
            </a:r>
            <a:endParaRPr lang="en-US" dirty="0"/>
          </a:p>
        </p:txBody>
      </p:sp>
      <p:pic>
        <p:nvPicPr>
          <p:cNvPr id="2050" name="Picture 2" descr="computer science - What is the difference between statically typed and  dynamically typed languages? - Stack Overflow">
            <a:extLst>
              <a:ext uri="{FF2B5EF4-FFF2-40B4-BE49-F238E27FC236}">
                <a16:creationId xmlns:a16="http://schemas.microsoft.com/office/drawing/2014/main" id="{3ED770D0-DAEE-73F9-F6D7-3490BC262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7983" y="2772772"/>
            <a:ext cx="5695950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7287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2C441-5FE5-F513-E4B8-52871CCE2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Sintaxis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D4C2B-3D6B-06B6-2C80-AC40DE081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UY" dirty="0"/>
              <a:t>Definición de funciones</a:t>
            </a:r>
          </a:p>
          <a:p>
            <a:pPr marL="457200" lvl="1" indent="0">
              <a:buNone/>
            </a:pPr>
            <a:r>
              <a:rPr lang="es-UY" dirty="0"/>
              <a:t>suma :: </a:t>
            </a:r>
            <a:r>
              <a:rPr lang="es-UY" dirty="0" err="1"/>
              <a:t>Int</a:t>
            </a:r>
            <a:r>
              <a:rPr lang="es-UY" dirty="0"/>
              <a:t> -</a:t>
            </a:r>
            <a:r>
              <a:rPr lang="en-US" dirty="0"/>
              <a:t>&gt; Int -&gt; Int</a:t>
            </a:r>
          </a:p>
          <a:p>
            <a:pPr marL="457200" lvl="1" indent="0">
              <a:buNone/>
            </a:pPr>
            <a:r>
              <a:rPr lang="en-US" dirty="0" err="1"/>
              <a:t>suma</a:t>
            </a:r>
            <a:r>
              <a:rPr lang="en-US" dirty="0"/>
              <a:t> a b  =  a + b</a:t>
            </a:r>
            <a:endParaRPr lang="es-UY" dirty="0"/>
          </a:p>
          <a:p>
            <a:r>
              <a:rPr lang="es-UY" dirty="0"/>
              <a:t>Invocación de funciones</a:t>
            </a:r>
          </a:p>
          <a:p>
            <a:pPr marL="457200" lvl="1" indent="0">
              <a:buNone/>
            </a:pPr>
            <a:r>
              <a:rPr lang="es-UY" dirty="0"/>
              <a:t>suma 2 3</a:t>
            </a:r>
          </a:p>
          <a:p>
            <a:r>
              <a:rPr lang="es-UY" dirty="0"/>
              <a:t>Variables</a:t>
            </a:r>
          </a:p>
          <a:p>
            <a:pPr marL="457200" lvl="1" indent="0">
              <a:buNone/>
            </a:pPr>
            <a:r>
              <a:rPr lang="es-UY" dirty="0"/>
              <a:t>x = 10</a:t>
            </a:r>
          </a:p>
          <a:p>
            <a:pPr marL="457200" lvl="1" indent="0">
              <a:buNone/>
            </a:pPr>
            <a:r>
              <a:rPr lang="es-UY" dirty="0"/>
              <a:t>y = x +5</a:t>
            </a:r>
          </a:p>
          <a:p>
            <a:r>
              <a:rPr lang="es-UY" dirty="0"/>
              <a:t>Comentarios : -- para 1 línea y {- para bloque -}</a:t>
            </a:r>
          </a:p>
          <a:p>
            <a:pPr marL="0" indent="0">
              <a:buNone/>
            </a:pPr>
            <a:endParaRPr lang="es-UY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0458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0987F-94F0-F878-7109-A474BDED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Tipos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24E0A-6C9E-07AD-6ABD-47F24AF0C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Funcionales</a:t>
            </a:r>
            <a:endParaRPr lang="en-US" dirty="0"/>
          </a:p>
          <a:p>
            <a:r>
              <a:rPr lang="en-US" dirty="0" err="1"/>
              <a:t>Abstractos</a:t>
            </a:r>
            <a:r>
              <a:rPr lang="en-US" dirty="0"/>
              <a:t> de </a:t>
            </a:r>
            <a:r>
              <a:rPr lang="en-US" dirty="0" err="1"/>
              <a:t>datos</a:t>
            </a:r>
            <a:endParaRPr lang="en-US" dirty="0"/>
          </a:p>
          <a:p>
            <a:r>
              <a:rPr lang="en-US" dirty="0" err="1"/>
              <a:t>Árboles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0432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7A8D5-FDB1-C6AB-31E0-E306EE578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Definir</a:t>
            </a:r>
            <a:r>
              <a:rPr lang="en-US" dirty="0"/>
              <a:t> un </a:t>
            </a:r>
            <a:r>
              <a:rPr lang="en-US" dirty="0" err="1"/>
              <a:t>tipo</a:t>
            </a:r>
            <a:r>
              <a:rPr lang="en-US" dirty="0"/>
              <a:t>: data vs.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1177C-E0CE-D3F6-89BA-C22D70D33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data se usa para crear nuevos tipos de datos reales, con constructores propios y estructura </a:t>
            </a:r>
            <a:r>
              <a:rPr lang="es-ES" dirty="0" err="1"/>
              <a:t>internaEn</a:t>
            </a:r>
            <a:r>
              <a:rPr lang="es-ES" dirty="0"/>
              <a:t> cambio, </a:t>
            </a:r>
            <a:r>
              <a:rPr lang="es-ES" dirty="0" err="1"/>
              <a:t>type</a:t>
            </a:r>
            <a:r>
              <a:rPr lang="es-ES" dirty="0"/>
              <a:t> se usa para crear sinónimos de tipos, es decir, alias de tipos existentes, sin crear un nuevo tipo en el sistema de tipos. </a:t>
            </a:r>
          </a:p>
          <a:p>
            <a:pPr marL="0" indent="0">
              <a:buNone/>
            </a:pPr>
            <a:r>
              <a:rPr lang="es-ES" dirty="0"/>
              <a:t>Un tipo definido con data es distinto a nivel de tipos, mientras que un </a:t>
            </a:r>
            <a:r>
              <a:rPr lang="es-ES" dirty="0" err="1"/>
              <a:t>type</a:t>
            </a:r>
            <a:r>
              <a:rPr lang="es-ES" dirty="0"/>
              <a:t> es solo un nombre alternativo para un tipo ya existente. 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/>
              <a:t>Por tanto, data crea tipos nuevos con identidad propia y </a:t>
            </a:r>
            <a:r>
              <a:rPr lang="es-ES" dirty="0" err="1"/>
              <a:t>type</a:t>
            </a:r>
            <a:r>
              <a:rPr lang="es-ES" dirty="0"/>
              <a:t> solo renombra tipos existentes para mejorar legibilidad.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3251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4747-3EC9-F6E0-7845-189D8DA6C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4BDB0-7624-C73E-C8D5-06BE338BB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Definir</a:t>
            </a:r>
            <a:r>
              <a:rPr lang="en-US" dirty="0"/>
              <a:t> un </a:t>
            </a:r>
            <a:r>
              <a:rPr lang="en-US" dirty="0" err="1"/>
              <a:t>tipo</a:t>
            </a:r>
            <a:r>
              <a:rPr lang="en-US" dirty="0"/>
              <a:t>: data vs.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14698-C032-86A5-AEB3-D0A348F52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N  where { O :: N ; S :: N -&gt; N}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type Nat = 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s-UY" dirty="0"/>
              <a:t>¿</a:t>
            </a:r>
            <a:r>
              <a:rPr lang="en-US" dirty="0"/>
              <a:t>Son lo </a:t>
            </a:r>
            <a:r>
              <a:rPr lang="en-US" dirty="0" err="1"/>
              <a:t>mismo</a:t>
            </a:r>
            <a:r>
              <a:rPr lang="en-US" dirty="0"/>
              <a:t>?</a:t>
            </a:r>
          </a:p>
          <a:p>
            <a:pPr marL="0" indent="0">
              <a:buNone/>
            </a:pPr>
            <a:r>
              <a:rPr lang="en-US" dirty="0"/>
              <a:t> f :: N -&gt; Nat 	f :: Nat -&gt; N 		f :: N -&gt; N		f:: Nat -&gt; Nat</a:t>
            </a:r>
          </a:p>
        </p:txBody>
      </p:sp>
    </p:spTree>
    <p:extLst>
      <p:ext uri="{BB962C8B-B14F-4D97-AF65-F5344CB8AC3E}">
        <p14:creationId xmlns:p14="http://schemas.microsoft.com/office/powerpoint/2010/main" val="406470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13378-A1D8-CB3A-04EF-F24BE0A4F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Crear un tipo nuevo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CB830-0C84-3F30-EE04-87D351F3F2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67005"/>
          </a:xfrm>
        </p:spPr>
        <p:txBody>
          <a:bodyPr/>
          <a:lstStyle/>
          <a:p>
            <a:pPr marL="0" indent="0">
              <a:buNone/>
            </a:pPr>
            <a:r>
              <a:rPr lang="es-UY" dirty="0"/>
              <a:t>Notación de fundamentos:</a:t>
            </a:r>
          </a:p>
          <a:p>
            <a:pPr marL="0" indent="0">
              <a:buNone/>
            </a:pPr>
            <a:r>
              <a:rPr lang="es-UY" dirty="0"/>
              <a:t>	</a:t>
            </a:r>
            <a:r>
              <a:rPr lang="en-US" dirty="0"/>
              <a:t>data N  where { O :: N ; S :: N -&gt; N}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Notación</a:t>
            </a:r>
            <a:r>
              <a:rPr lang="en-US" dirty="0"/>
              <a:t> de </a:t>
            </a:r>
            <a:r>
              <a:rPr lang="en-US" dirty="0" err="1"/>
              <a:t>teoría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	data N = O | S 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RECORDAR:</a:t>
            </a:r>
          </a:p>
          <a:p>
            <a:pPr marL="0" indent="0">
              <a:buNone/>
            </a:pPr>
            <a:r>
              <a:rPr lang="en-US" dirty="0" err="1"/>
              <a:t>Tipos</a:t>
            </a:r>
            <a:r>
              <a:rPr lang="en-US" dirty="0"/>
              <a:t> y sus </a:t>
            </a:r>
            <a:r>
              <a:rPr lang="en-US" dirty="0" err="1"/>
              <a:t>constructores</a:t>
            </a:r>
            <a:r>
              <a:rPr lang="en-US" dirty="0"/>
              <a:t> </a:t>
            </a:r>
            <a:r>
              <a:rPr lang="en-US" dirty="0" err="1"/>
              <a:t>deben</a:t>
            </a:r>
            <a:r>
              <a:rPr lang="en-US" dirty="0"/>
              <a:t> </a:t>
            </a:r>
            <a:r>
              <a:rPr lang="en-US" dirty="0" err="1"/>
              <a:t>empezar</a:t>
            </a:r>
            <a:r>
              <a:rPr lang="en-US" dirty="0"/>
              <a:t> con </a:t>
            </a:r>
            <a:r>
              <a:rPr lang="en-US" dirty="0" err="1"/>
              <a:t>mayúscula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Funciones</a:t>
            </a:r>
            <a:r>
              <a:rPr lang="en-US" dirty="0"/>
              <a:t> y variables con </a:t>
            </a:r>
            <a:r>
              <a:rPr lang="en-US" dirty="0" err="1"/>
              <a:t>minúscula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7953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EEED7-1768-4183-FFAE-977C40444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Crear un </a:t>
            </a:r>
            <a:r>
              <a:rPr lang="en-US" dirty="0" err="1"/>
              <a:t>tipo</a:t>
            </a:r>
            <a:r>
              <a:rPr lang="en-US" dirty="0"/>
              <a:t> nuevo: </a:t>
            </a:r>
            <a:r>
              <a:rPr lang="en-US" dirty="0" err="1"/>
              <a:t>newtype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C1379-71A2-1316-A015-AAAE7C0B3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 err="1"/>
              <a:t>newtype</a:t>
            </a:r>
            <a:r>
              <a:rPr lang="es-ES" dirty="0"/>
              <a:t> se utiliza para crear un nuevo tipo a partir de un tipo existente, pero sin el coste de memoria ni de ejecución que tiene data. A diferencia de </a:t>
            </a:r>
            <a:r>
              <a:rPr lang="es-ES" dirty="0" err="1"/>
              <a:t>type</a:t>
            </a:r>
            <a:r>
              <a:rPr lang="es-ES" dirty="0"/>
              <a:t>, </a:t>
            </a:r>
            <a:r>
              <a:rPr lang="es-ES" dirty="0" err="1"/>
              <a:t>newtype</a:t>
            </a:r>
            <a:r>
              <a:rPr lang="es-ES" dirty="0"/>
              <a:t> sí crea un tipo distinto en el sistema de tipos, pero solo puede tener un único constructor y un único campo. Se usa cuando se quiere seguridad de tipos (evitar confusiones entre tipos iguales internamente) sin penalización de rendimiento. Es común en </a:t>
            </a:r>
            <a:r>
              <a:rPr lang="es-ES" dirty="0" err="1"/>
              <a:t>TADs</a:t>
            </a:r>
            <a:r>
              <a:rPr lang="es-ES" dirty="0"/>
              <a:t>, </a:t>
            </a:r>
            <a:r>
              <a:rPr lang="es-ES" dirty="0" err="1"/>
              <a:t>wrappers</a:t>
            </a:r>
            <a:r>
              <a:rPr lang="es-ES" dirty="0"/>
              <a:t> semánticos y para dar significado a valores simples como </a:t>
            </a:r>
            <a:r>
              <a:rPr lang="es-ES" dirty="0" err="1"/>
              <a:t>Int</a:t>
            </a:r>
            <a:r>
              <a:rPr lang="es-ES" dirty="0"/>
              <a:t> o </a:t>
            </a:r>
            <a:r>
              <a:rPr lang="es-ES" dirty="0" err="1"/>
              <a:t>String</a:t>
            </a:r>
            <a:r>
              <a:rPr lang="es-ES" dirty="0"/>
              <a:t>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/>
              <a:t>Ejemplo: </a:t>
            </a:r>
            <a:r>
              <a:rPr lang="es-ES" dirty="0" err="1"/>
              <a:t>newtype</a:t>
            </a:r>
            <a:r>
              <a:rPr lang="es-ES" dirty="0"/>
              <a:t> Natural = N </a:t>
            </a:r>
            <a:r>
              <a:rPr lang="es-ES" dirty="0" err="1"/>
              <a:t>Nat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131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DB903-C4C4-5377-9D5A-2D1AA4963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Lambda notation and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16A27-463C-384C-6506-F94A52E21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Fundamentos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	par = \n -&gt; case n of {</a:t>
            </a:r>
          </a:p>
          <a:p>
            <a:pPr marL="0" indent="0">
              <a:buNone/>
            </a:pPr>
            <a:r>
              <a:rPr lang="en-US" dirty="0"/>
              <a:t>			O -&gt; True;</a:t>
            </a:r>
          </a:p>
          <a:p>
            <a:pPr marL="0" indent="0">
              <a:buNone/>
            </a:pPr>
            <a:r>
              <a:rPr lang="en-US" dirty="0"/>
              <a:t>			S x -&gt; not (par x) }</a:t>
            </a:r>
          </a:p>
          <a:p>
            <a:pPr marL="0" indent="0">
              <a:buNone/>
            </a:pPr>
            <a:r>
              <a:rPr lang="en-US" dirty="0" err="1"/>
              <a:t>capaz</a:t>
            </a:r>
            <a:r>
              <a:rPr lang="en-US" dirty="0"/>
              <a:t> </a:t>
            </a:r>
            <a:r>
              <a:rPr lang="en-US" dirty="0" err="1"/>
              <a:t>alguno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par n = case n of {</a:t>
            </a:r>
          </a:p>
          <a:p>
            <a:pPr marL="0" indent="0">
              <a:buNone/>
            </a:pPr>
            <a:r>
              <a:rPr lang="en-US" dirty="0"/>
              <a:t>			O -&gt; True;</a:t>
            </a:r>
          </a:p>
          <a:p>
            <a:pPr marL="0" indent="0">
              <a:buNone/>
            </a:pPr>
            <a:r>
              <a:rPr lang="en-US" dirty="0"/>
              <a:t>			S x -&gt; not (par x)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8720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52B06-9876-CF68-818D-6455AC512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DD20E-C876-FE0C-1B40-EE3C98DE6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F5AF4-968F-0123-7514-BC2BA9120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Fundamentos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par n = case n of {</a:t>
            </a:r>
          </a:p>
          <a:p>
            <a:pPr marL="0" indent="0">
              <a:buNone/>
            </a:pPr>
            <a:r>
              <a:rPr lang="en-US" dirty="0"/>
              <a:t>			O -&gt; True;</a:t>
            </a:r>
          </a:p>
          <a:p>
            <a:pPr marL="0" indent="0">
              <a:buNone/>
            </a:pPr>
            <a:r>
              <a:rPr lang="en-US" dirty="0"/>
              <a:t>			S x -&gt; not (par x)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Teoría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par O = True</a:t>
            </a:r>
          </a:p>
          <a:p>
            <a:pPr marL="0" indent="0">
              <a:buNone/>
            </a:pPr>
            <a:r>
              <a:rPr lang="en-US" dirty="0"/>
              <a:t>par (S x) = not (par x)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149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71584-14B9-6C9B-9C33-511BB320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Cases vs </a:t>
            </a:r>
            <a:r>
              <a:rPr lang="en-US" dirty="0" err="1"/>
              <a:t>Guardas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846EB-3BAD-369B-5801-90FDCA1755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2880"/>
            <a:ext cx="6574277" cy="4835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filter  :: (a-&gt; Bool) -&gt; [a] -&gt; [a]</a:t>
            </a:r>
          </a:p>
          <a:p>
            <a:pPr marL="0" indent="0">
              <a:buNone/>
            </a:pPr>
            <a:r>
              <a:rPr lang="en-US" dirty="0"/>
              <a:t>filter p [] = []</a:t>
            </a:r>
          </a:p>
          <a:p>
            <a:pPr marL="0" indent="0">
              <a:buNone/>
            </a:pPr>
            <a:r>
              <a:rPr lang="en-US" dirty="0"/>
              <a:t>filter p (</a:t>
            </a:r>
            <a:r>
              <a:rPr lang="en-US" dirty="0" err="1"/>
              <a:t>x:xs</a:t>
            </a:r>
            <a:r>
              <a:rPr lang="en-US" dirty="0"/>
              <a:t>) = case p x of {</a:t>
            </a:r>
          </a:p>
          <a:p>
            <a:pPr marL="0" indent="0">
              <a:buNone/>
            </a:pPr>
            <a:r>
              <a:rPr lang="en-US" dirty="0"/>
              <a:t>			True -&gt; x: (filter p </a:t>
            </a:r>
            <a:r>
              <a:rPr lang="en-US" dirty="0" err="1"/>
              <a:t>xs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		False -&gt;filter p </a:t>
            </a:r>
            <a:r>
              <a:rPr lang="en-US" dirty="0" err="1"/>
              <a:t>xs</a:t>
            </a: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Existe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if then else también!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DEA0D73-34BE-5524-FBDC-9E4C863C3536}"/>
              </a:ext>
            </a:extLst>
          </p:cNvPr>
          <p:cNvSpPr txBox="1">
            <a:spLocks/>
          </p:cNvSpPr>
          <p:nvPr/>
        </p:nvSpPr>
        <p:spPr>
          <a:xfrm>
            <a:off x="7438417" y="2022880"/>
            <a:ext cx="657427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filter  :: (a-&gt; Bool) -&gt; [a] -&gt; [a]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filter p [] = []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filter p (</a:t>
            </a:r>
            <a:r>
              <a:rPr lang="en-US" dirty="0" err="1"/>
              <a:t>x:xs</a:t>
            </a:r>
            <a:r>
              <a:rPr lang="en-US" dirty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| p x = x : (filter p </a:t>
            </a:r>
            <a:r>
              <a:rPr lang="en-US" dirty="0" err="1"/>
              <a:t>xs</a:t>
            </a:r>
            <a:r>
              <a:rPr lang="en-US" dirty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| otherwise = filter p </a:t>
            </a:r>
            <a:r>
              <a:rPr lang="en-US" dirty="0" err="1"/>
              <a:t>xs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234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1AC61-2A08-A533-1673-8AEF22B5D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21B5-5206-EB95-BC88-1DC832D00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Una </a:t>
            </a:r>
            <a:r>
              <a:rPr lang="es-ES" dirty="0" err="1"/>
              <a:t>type</a:t>
            </a:r>
            <a:r>
              <a:rPr lang="es-ES" dirty="0"/>
              <a:t> </a:t>
            </a:r>
            <a:r>
              <a:rPr lang="es-ES" dirty="0" err="1"/>
              <a:t>class</a:t>
            </a:r>
            <a:r>
              <a:rPr lang="es-ES" dirty="0"/>
              <a:t> define comportamientos; los tipos implementan esos comportamientos como instancias.</a:t>
            </a:r>
          </a:p>
          <a:p>
            <a:pPr marL="0" indent="0">
              <a:buNone/>
            </a:pPr>
            <a:r>
              <a:rPr lang="es-ES" dirty="0" err="1"/>
              <a:t>elem</a:t>
            </a:r>
            <a:r>
              <a:rPr lang="es-ES" dirty="0"/>
              <a:t> :: </a:t>
            </a:r>
            <a:r>
              <a:rPr lang="es-ES" dirty="0" err="1"/>
              <a:t>Eq</a:t>
            </a:r>
            <a:r>
              <a:rPr lang="es-ES" dirty="0"/>
              <a:t> a =&gt; a -&gt; [a] -&gt; </a:t>
            </a:r>
            <a:r>
              <a:rPr lang="es-ES" dirty="0" err="1"/>
              <a:t>Bool</a:t>
            </a:r>
            <a:endParaRPr lang="es-ES" dirty="0"/>
          </a:p>
          <a:p>
            <a:pPr marL="0" indent="0">
              <a:buNone/>
            </a:pPr>
            <a:r>
              <a:rPr lang="es-ES" dirty="0"/>
              <a:t> 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934642-66BF-958E-BA29-A43349048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625232"/>
            <a:ext cx="6403492" cy="13255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CC031E-7FDB-84D4-9E64-D87E6922F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126874"/>
            <a:ext cx="6213369" cy="1113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127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9268E-A310-EF86-28CF-42FDA58E2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D65B2-8EA1-7C4E-3A2A-527921E014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Los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vamos</a:t>
            </a:r>
            <a:r>
              <a:rPr lang="en-US" dirty="0"/>
              <a:t> a usar:</a:t>
            </a:r>
          </a:p>
          <a:p>
            <a:pPr>
              <a:buFontTx/>
              <a:buChar char="-"/>
            </a:pPr>
            <a:r>
              <a:rPr lang="en-US" dirty="0"/>
              <a:t>Show</a:t>
            </a:r>
          </a:p>
          <a:p>
            <a:pPr>
              <a:buFontTx/>
              <a:buChar char="-"/>
            </a:pPr>
            <a:r>
              <a:rPr lang="en-US" dirty="0"/>
              <a:t>Eq</a:t>
            </a:r>
          </a:p>
          <a:p>
            <a:pPr>
              <a:buFontTx/>
              <a:buChar char="-"/>
            </a:pPr>
            <a:r>
              <a:rPr lang="en-US" dirty="0"/>
              <a:t>Ord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Ej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data N = O | S N  deriving Show</a:t>
            </a:r>
          </a:p>
        </p:txBody>
      </p:sp>
      <p:pic>
        <p:nvPicPr>
          <p:cNvPr id="1026" name="Picture 2" descr="The Haskell 98 Report: Predefined Types and Classes">
            <a:extLst>
              <a:ext uri="{FF2B5EF4-FFF2-40B4-BE49-F238E27FC236}">
                <a16:creationId xmlns:a16="http://schemas.microsoft.com/office/drawing/2014/main" id="{692E9B48-1BF1-6E51-7C99-2CDA2AAB6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540" y="0"/>
            <a:ext cx="5460460" cy="7052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3013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3325B-2756-D62C-39FD-E4B75F29A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Maybe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48305-5A35-391F-1DEE-7B069E49C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 </a:t>
            </a:r>
            <a:r>
              <a:rPr lang="en-US" dirty="0" err="1"/>
              <a:t>utiliza</a:t>
            </a:r>
            <a:r>
              <a:rPr lang="en-US" dirty="0"/>
              <a:t> para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pueden</a:t>
            </a:r>
            <a:r>
              <a:rPr lang="en-US" dirty="0"/>
              <a:t> </a:t>
            </a:r>
            <a:r>
              <a:rPr lang="en-US" dirty="0" err="1"/>
              <a:t>existir</a:t>
            </a:r>
            <a:r>
              <a:rPr lang="en-US" dirty="0"/>
              <a:t> o no </a:t>
            </a:r>
            <a:r>
              <a:rPr lang="en-US" dirty="0" err="1"/>
              <a:t>existir</a:t>
            </a:r>
            <a:r>
              <a:rPr lang="en-US" dirty="0"/>
              <a:t>. En </a:t>
            </a:r>
            <a:r>
              <a:rPr lang="en-US" dirty="0" err="1"/>
              <a:t>lugar</a:t>
            </a:r>
            <a:r>
              <a:rPr lang="en-US" dirty="0"/>
              <a:t> de usar null, -1 o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inválidos</a:t>
            </a:r>
            <a:r>
              <a:rPr lang="en-US" dirty="0"/>
              <a:t>, Haskell </a:t>
            </a:r>
            <a:r>
              <a:rPr lang="en-US" dirty="0" err="1"/>
              <a:t>usa</a:t>
            </a:r>
            <a:r>
              <a:rPr lang="en-US" dirty="0"/>
              <a:t> Maybe para </a:t>
            </a:r>
            <a:r>
              <a:rPr lang="en-US" dirty="0" err="1"/>
              <a:t>modelar</a:t>
            </a:r>
            <a:r>
              <a:rPr lang="en-US" dirty="0"/>
              <a:t> la </a:t>
            </a:r>
            <a:r>
              <a:rPr lang="en-US" dirty="0" err="1"/>
              <a:t>ausencia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de forma </a:t>
            </a:r>
            <a:r>
              <a:rPr lang="en-US" dirty="0" err="1"/>
              <a:t>segura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data Maybe a = Nothing | Just a</a:t>
            </a:r>
          </a:p>
        </p:txBody>
      </p:sp>
    </p:spTree>
    <p:extLst>
      <p:ext uri="{BB962C8B-B14F-4D97-AF65-F5344CB8AC3E}">
        <p14:creationId xmlns:p14="http://schemas.microsoft.com/office/powerpoint/2010/main" val="1903522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587F0-D959-AA60-B2DD-BDBE980B5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Cláusula 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4ABA9-C2BF-3742-B06F-79689F65D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Ejemplos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notaFinal</a:t>
            </a:r>
            <a:r>
              <a:rPr lang="en-US" dirty="0"/>
              <a:t> </a:t>
            </a:r>
            <a:r>
              <a:rPr lang="en-US" dirty="0" err="1"/>
              <a:t>parcial</a:t>
            </a:r>
            <a:r>
              <a:rPr lang="en-US" dirty="0"/>
              <a:t> </a:t>
            </a:r>
            <a:r>
              <a:rPr lang="en-US" dirty="0" err="1"/>
              <a:t>defensas</a:t>
            </a:r>
            <a:r>
              <a:rPr lang="en-US" dirty="0"/>
              <a:t> </a:t>
            </a:r>
            <a:r>
              <a:rPr lang="en-US" dirty="0" err="1"/>
              <a:t>trabajo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| </a:t>
            </a:r>
            <a:r>
              <a:rPr lang="en-US" dirty="0" err="1"/>
              <a:t>promedio</a:t>
            </a:r>
            <a:r>
              <a:rPr lang="en-US" dirty="0"/>
              <a:t> &gt;= 70 = "</a:t>
            </a:r>
            <a:r>
              <a:rPr lang="en-US" dirty="0" err="1"/>
              <a:t>Aprobado</a:t>
            </a:r>
            <a:r>
              <a:rPr lang="en-US" dirty="0"/>
              <a:t>"</a:t>
            </a:r>
          </a:p>
          <a:p>
            <a:pPr marL="0" indent="0">
              <a:buNone/>
            </a:pPr>
            <a:r>
              <a:rPr lang="en-US" dirty="0"/>
              <a:t>  | otherwise     = “</a:t>
            </a:r>
            <a:r>
              <a:rPr lang="en-US" dirty="0" err="1"/>
              <a:t>Eliminado</a:t>
            </a:r>
            <a:r>
              <a:rPr lang="en-US" dirty="0"/>
              <a:t>"</a:t>
            </a:r>
          </a:p>
          <a:p>
            <a:pPr marL="0" indent="0">
              <a:buNone/>
            </a:pPr>
            <a:r>
              <a:rPr lang="en-US" dirty="0"/>
              <a:t>  where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promedio</a:t>
            </a:r>
            <a:r>
              <a:rPr lang="en-US" dirty="0"/>
              <a:t> = (</a:t>
            </a:r>
            <a:r>
              <a:rPr lang="en-US" dirty="0" err="1"/>
              <a:t>parcial</a:t>
            </a:r>
            <a:r>
              <a:rPr lang="en-US" dirty="0"/>
              <a:t> * 0.3) + (</a:t>
            </a:r>
            <a:r>
              <a:rPr lang="en-US" dirty="0" err="1"/>
              <a:t>defensas</a:t>
            </a:r>
            <a:r>
              <a:rPr lang="en-US" dirty="0"/>
              <a:t> * 0.5) + (</a:t>
            </a:r>
            <a:r>
              <a:rPr lang="en-US" dirty="0" err="1"/>
              <a:t>trabajo</a:t>
            </a:r>
            <a:r>
              <a:rPr lang="en-US" dirty="0"/>
              <a:t> * 0.2)</a:t>
            </a:r>
          </a:p>
        </p:txBody>
      </p:sp>
    </p:spTree>
    <p:extLst>
      <p:ext uri="{BB962C8B-B14F-4D97-AF65-F5344CB8AC3E}">
        <p14:creationId xmlns:p14="http://schemas.microsoft.com/office/powerpoint/2010/main" val="2139895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BF57A-6D8F-0356-86F8-823BEFA38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Cláusula 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CC4D7-E8DC-C600-F1BF-28BF0B8BAC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8983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precioFinal</a:t>
            </a:r>
            <a:r>
              <a:rPr lang="en-US" dirty="0"/>
              <a:t> </a:t>
            </a:r>
            <a:r>
              <a:rPr lang="en-US" dirty="0" err="1"/>
              <a:t>precio</a:t>
            </a:r>
            <a:r>
              <a:rPr lang="en-US" dirty="0"/>
              <a:t> =</a:t>
            </a:r>
          </a:p>
          <a:p>
            <a:pPr marL="0" indent="0">
              <a:buNone/>
            </a:pPr>
            <a:r>
              <a:rPr lang="en-US" dirty="0"/>
              <a:t>  let </a:t>
            </a:r>
            <a:r>
              <a:rPr lang="en-US" dirty="0" err="1"/>
              <a:t>iva</a:t>
            </a:r>
            <a:r>
              <a:rPr lang="en-US" dirty="0"/>
              <a:t> = </a:t>
            </a:r>
            <a:r>
              <a:rPr lang="en-US" dirty="0" err="1"/>
              <a:t>precio</a:t>
            </a:r>
            <a:r>
              <a:rPr lang="en-US" dirty="0"/>
              <a:t> * 0.22</a:t>
            </a:r>
          </a:p>
          <a:p>
            <a:pPr marL="0" indent="0">
              <a:buNone/>
            </a:pPr>
            <a:r>
              <a:rPr lang="en-US" dirty="0"/>
              <a:t>      total = </a:t>
            </a:r>
            <a:r>
              <a:rPr lang="en-US" dirty="0" err="1"/>
              <a:t>precio</a:t>
            </a:r>
            <a:r>
              <a:rPr lang="en-US" dirty="0"/>
              <a:t> + </a:t>
            </a:r>
            <a:r>
              <a:rPr lang="en-US" dirty="0" err="1"/>
              <a:t>iva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in total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94AD099-1201-B1A5-F8B2-58C6A490BCB0}"/>
              </a:ext>
            </a:extLst>
          </p:cNvPr>
          <p:cNvSpPr txBox="1">
            <a:spLocks/>
          </p:cNvSpPr>
          <p:nvPr/>
        </p:nvSpPr>
        <p:spPr>
          <a:xfrm>
            <a:off x="6399179" y="1825625"/>
            <a:ext cx="458983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distancia (x1,y1) (x2,y2) =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  </a:t>
            </a:r>
            <a:r>
              <a:rPr lang="es-ES" dirty="0" err="1"/>
              <a:t>sqrt</a:t>
            </a:r>
            <a:r>
              <a:rPr lang="es-ES" dirty="0"/>
              <a:t> (</a:t>
            </a:r>
            <a:r>
              <a:rPr lang="es-ES" dirty="0" err="1"/>
              <a:t>dx</a:t>
            </a:r>
            <a:r>
              <a:rPr lang="es-ES" dirty="0"/>
              <a:t>*</a:t>
            </a:r>
            <a:r>
              <a:rPr lang="es-ES" dirty="0" err="1"/>
              <a:t>dx</a:t>
            </a:r>
            <a:r>
              <a:rPr lang="es-ES" dirty="0"/>
              <a:t> + </a:t>
            </a:r>
            <a:r>
              <a:rPr lang="es-ES" dirty="0" err="1"/>
              <a:t>dy</a:t>
            </a:r>
            <a:r>
              <a:rPr lang="es-ES" dirty="0"/>
              <a:t>*</a:t>
            </a:r>
            <a:r>
              <a:rPr lang="es-ES" dirty="0" err="1"/>
              <a:t>dy</a:t>
            </a:r>
            <a:r>
              <a:rPr lang="es-ES" dirty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  </a:t>
            </a:r>
            <a:r>
              <a:rPr lang="es-ES" dirty="0" err="1"/>
              <a:t>where</a:t>
            </a:r>
            <a:endParaRPr lang="es-E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    </a:t>
            </a:r>
            <a:r>
              <a:rPr lang="es-ES" dirty="0" err="1"/>
              <a:t>dx</a:t>
            </a:r>
            <a:r>
              <a:rPr lang="es-ES" dirty="0"/>
              <a:t> = x2 - x1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    </a:t>
            </a:r>
            <a:r>
              <a:rPr lang="es-ES" dirty="0" err="1"/>
              <a:t>dy</a:t>
            </a:r>
            <a:r>
              <a:rPr lang="es-ES" dirty="0"/>
              <a:t> = y2 - y1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147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816</Words>
  <Application>Microsoft Office PowerPoint</Application>
  <PresentationFormat>Widescreen</PresentationFormat>
  <Paragraphs>116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Repaso Haskell</vt:lpstr>
      <vt:lpstr>¿Qué es Haskell?</vt:lpstr>
      <vt:lpstr>Sintaxis</vt:lpstr>
      <vt:lpstr>Tipos</vt:lpstr>
      <vt:lpstr>Definir un tipo: data vs. type</vt:lpstr>
      <vt:lpstr>Definir un tipo: data vs. type</vt:lpstr>
      <vt:lpstr>Crear un tipo nuevo</vt:lpstr>
      <vt:lpstr>Crear un tipo nuevo: newtype</vt:lpstr>
      <vt:lpstr>Lambda notation and cases</vt:lpstr>
      <vt:lpstr>Pattern matching</vt:lpstr>
      <vt:lpstr>Cases vs Guardas</vt:lpstr>
      <vt:lpstr>Clases</vt:lpstr>
      <vt:lpstr>Clases</vt:lpstr>
      <vt:lpstr>Data Maybe</vt:lpstr>
      <vt:lpstr>Cláusula where</vt:lpstr>
      <vt:lpstr>Cláusula let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Diego Alejandro Acuña Bespalko</dc:creator>
  <cp:lastModifiedBy>Diego Alejandro Acuña Bespalko</cp:lastModifiedBy>
  <cp:revision>2</cp:revision>
  <dcterms:created xsi:type="dcterms:W3CDTF">2026-02-25T00:17:58Z</dcterms:created>
  <dcterms:modified xsi:type="dcterms:W3CDTF">2026-02-26T00:59:46Z</dcterms:modified>
</cp:coreProperties>
</file>